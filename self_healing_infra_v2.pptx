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silent for 5 seconds. Let the audience read the terminal.
Then: 'It's 2 AM. Production is down. And somewhere on your laptop is a markdown file you haven't updated in six months.'
Pause. 'What if the runbook could just... handle it?'
That single question is what the next 30 minutes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'Hands up if you've been that engineer.' Let them laugh — it's universal.
Card 1: 'The runbook was written by someone who understood the system 18 months ago. That person has left.'
Card 2: 'We put our worst cognitive state — exhausted, stressed, 2 AM — at the critical decision point.'
Card 3: 'MTTR is tracked religiously. Runbook quality almost never is. They are the same metric.'
Close: 'We have the tools to fix all three.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this slide. It's the emotional core.
Tenerife: 'The deadliest aviation accident in history wasn't a mechanical failure. It was a process failure. A checklist was skipped.'
Gawande: 'A surgeon with 30 years of experience still uses a checklist. Not because they're incompetent — because the checklist makes them better. Even experts forget things under pressure.'
Then the pivot: 'We have the equivalent in software. But we treat it like optional reading. What if aviation treated the pre-flight checklist like we treat runbooks?'
Key beat: 'The difference between aviation and software isn't the stakes. It's that aviation took process seriously. We haven't.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core. Spend 2-3 minutes here.
'Everyone is excited about LLMs. But excitement doesn't belong in your on-call rotation at 2 AM. Predictability does.'
'LLMs are powerful precisely because they reason. But reasoning is probabilistic. Production incidents need determinism.'
The resolution: 'You don't have to choose. Wrap the LLM inside a deterministic structure. The runbook decides WHAT is allowed. The LLM decides HOW to execute within those bounds.'
'Think of a train. A locomotive is enormously powerful — but it only goes where the tracks say. Your runbook is the tracks. Genkit Go is how we build them in production Go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box. Keep it to 30 seconds per box — this is the map, not the territory.
Alert Trigger: 'Prometheus fires, alertmanager sends a webhook to our Go server.'
Runbook Parser: 'We parse the YAML runbook into a typed Go struct. This is where markdown becomes a state machine.'
Genkit Go Agent: 'Gemini 2.5 Flash with tool use. It reads logs, queries metrics, forms a hypothesis.'
Safe State Enforcer: 'The most important layer. Compiled Go code, not YAML config. The agent literally cannot call a forbidden action.'
Human Approval: 'Go channel. The execution goroutine parks here and waits. Nothing proceeds without a click.'
'Let's go through each of these in code. Starting with the one that makes engineers nervous: giving AI access to production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YAML deliberately. Each feature is a design decision.
'read_only list: these actions are forbidden regardless of what the LLM decides, regardless of what any engineer approves. This is a hard constraint in Go code, not a prompt instruction.'
'requires_approval: these trigger a Go channel block. The execution goroutine parks. The incident state machine is frozen until a human clicks on the dashboard.'
'Step 1 is always diagnostic — read-only. The agent gathers evidence before forming any hypothesis.'
'rollback_command: every recovery action has an undo. The agent knows how to roll back automatically if a health check fails after execution.'
Key point: 'Your old markdown runbook had all this logic too. It was just written in English, enforced by a half-asleep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'Hypothesis is a typed Go struct. The LLM returns JSON, Genkit unmarshals it into Hypothesis. If confidence is below 0.7, the engine escalates to a human instead of proposing an action.'
'Temperature 0.1. This is crucial. Low temperature means the model is more deterministic. We want the same inputs to produce the same outputs. We are not writing creative fiction; we are doing incident response.'
'ai.WithTools: these are the only system calls the LLM can make. kubectl get, curl, redis-cli info. The whitelist is enforced in Go — the LLM cannot hallucinate its way to an unlisted command.'
Why Genkit Go vs Python: 'Compile-time type safety. If the model returns a malformed hypothesis, Go catches it at unmarshal time. Python would silently pass a dict. In a P0 incident, type errors are not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on-call engineer sees at 2 AM — not a blank terminal.
'The agent has already done 4 minutes of work. It read the logs, queried Prometheus, checked Stripe's health API, correlated 23 events, matched a prior incident from August.'
'The engineer reads this in 30 seconds and clicks one button. That's all they have to do.'
Point to confidence: '94% from 23 correlated events. This is better analysis than a groggy human does manually at 2 AM.'
Point to blast radius: 'LOW. The agent computed this. It knows this is a controlled restart, not a database migration.'
Point to rollback: 'Automatic on health check failure. The agent thought about the undo step before proposing the action.'
'This is not replacing the engineer. This is giving the engineer a prepared briefing instead of a blank terminal and a 6-month-old markdown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elegance of this implementation:
'ch is a Go channel. The execution goroutine blocks on the select statement. The incident state machine is literally frozen here until the channel receives a value.'
'The dashboard calls GET /api/approvals to poll for pending requests. When the engineer clicks Approve, the handler calls s.approvalSvc.Approve(id, ...) which sends on the channel. The frozen goroutine wakes up.'
'The 5-minute timeout isn't failure — it's escalation. If the on-call engineer doesn't respond in 5 minutes, the system pages the secondary. The incident doesn't stall; it escalates.'
'approvedBy is recorded in the audit log. approved_at timestamp. justification text. This is what your compliance team has been asking for: a complete, immutable record of every human decision made during a production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Read each row. Let it land.
Row 1: 'You're not eliminating the engineer. You're changing when they engage. They used to engage at the worst possible moment — half-asleep, no context. Now they engage when it matters: the approval decision.'
Row 3: '94% confidence and a blast radius estimate. The agent computed this from 23 correlated events. This is better than the analysis a groggy human does manually at 2 AM.'
Row 5: 'The audit trail is what compliance teams have been asking for for years. Not a post-mortem written from memory — a real-time record of every system action and human decision.'
Key message: 'This is Dr. Gawande's surgical checklist. Not replacing surgeons — giving surgeons a structure that makes them better surgeons. You're still in the loop. The loop just got much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a concrete path out of this room.
Step 01: 'Every team has one runbook that everyone avoids. The steps say things like "check if the usual thing happened". That's your pilot.'
Step 02: 'Structure first, AI later. Just converting the runbook to YAML with typed steps and approval gates is a meaningful improvement — even before you add Gemini.'
Step 03: 'Read-only first, always. A bot that reads your logs and tells you what happened — with no write capabilities — has enormous standalone value. Ship that first.'
Step 04: 'The approval UI is a weekend project. The full code is in the repo I'll share. You need a GET endpoint, a POST endpoint, and a simple React form.'
'You don't have to do all four this week. Doing 01 and 02 is already better than your current state. Ship incrementally.'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opening line in silence for 4-5 seconds. Don't say anything.
Then: 'Your runbook is not a markdown file. It never should have been. We just didn't have the tools to make it anything else. Now we do.'
'Aviation learned this lesson from Tenerife in 1977. Medicine learned it from operating rooms in 2009. We have the chance to learn it now — with better tools than either of them had.'
'The technology is here: Genkit Go, Gemini 2.5 Flash, Go channels, YAML state machines. None of this is science fiction. I showed you working code today.'
'The 2 AM engineer deserves better. Build them a system that does most of the hard work before they even open their laptop.'
Expected Q&amp;A: multi-tenant isolation details, runbook versioning strategy, what happens when the agent is wrong (rollback!), cost of Flash at scale (very cheap per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61B22"/>
          </a:solidFill>
          <a:ln w="6350">
            <a:solidFill>
              <a:srgbClr val="30363D"/>
            </a:solidFill>
            <a:prstDash val="solid"/>
          </a:ln>
        </p:spPr>
      </p:sp>
      <p:sp>
        <p:nvSpPr>
          <p:cNvPr id="3" name="Text 1"/>
          <p:cNvSpPr/>
          <p:nvPr/>
        </p:nvSpPr>
        <p:spPr>
          <a:xfrm>
            <a:off x="91440" y="0"/>
            <a:ext cx="8961120" cy="347472"/>
          </a:xfrm>
          <a:prstGeom prst="rect">
            <a:avLst/>
          </a:prstGeom>
          <a:noFill/>
          <a:ln/>
        </p:spPr>
        <p:txBody>
          <a:bodyPr wrap="square" rtlCol="0" anchor="ctr"/>
          <a:lstStyle/>
          <a:p>
            <a:pPr indent="0" marL="0">
              <a:buNone/>
            </a:pPr>
            <a:r>
              <a:rPr lang="en-US" sz="950" dirty="0">
                <a:solidFill>
                  <a:srgbClr val="E24B4A"/>
                </a:solidFill>
                <a:latin typeface="Courier New" pitchFamily="34" charset="0"/>
                <a:ea typeface="Courier New" pitchFamily="34" charset="-122"/>
                <a:cs typeface="Courier New" pitchFamily="34" charset="-120"/>
              </a:rPr>
              <a:t>🔴  INCIDENT ACTIVE  |  Payment Gateway Failure  |  2m elapsed  |  MTTR: 5m  |  On-call: @nutcas3</a:t>
            </a:r>
            <a:endParaRPr lang="en-US" sz="950" dirty="0"/>
          </a:p>
        </p:txBody>
      </p:sp>
      <p:sp>
        <p:nvSpPr>
          <p:cNvPr id="4" name="Text 2"/>
          <p:cNvSpPr/>
          <p:nvPr/>
        </p:nvSpPr>
        <p:spPr>
          <a:xfrm>
            <a:off x="640080" y="502920"/>
            <a:ext cx="7863840" cy="1600200"/>
          </a:xfrm>
          <a:prstGeom prst="rect">
            <a:avLst/>
          </a:prstGeom>
          <a:noFill/>
          <a:ln/>
        </p:spPr>
        <p:txBody>
          <a:bodyPr wrap="square" rtlCol="0" anchor="ctr"/>
          <a:lstStyle/>
          <a:p>
            <a:pPr indent="0" marL="0">
              <a:buNone/>
            </a:pPr>
            <a:r>
              <a:rPr lang="en-US" sz="4400" b="1" dirty="0">
                <a:solidFill>
                  <a:srgbClr val="F0F6FC"/>
                </a:solidFill>
                <a:latin typeface="Cambria" pitchFamily="34" charset="0"/>
                <a:ea typeface="Cambria" pitchFamily="34" charset="-122"/>
                <a:cs typeface="Cambria" pitchFamily="34" charset="-120"/>
              </a:rPr>
              <a:t>Building Self-Healing</a:t>
            </a:r>
            <a:endParaRPr lang="en-US" sz="4400" dirty="0"/>
          </a:p>
          <a:p>
            <a:pPr indent="0" marL="0">
              <a:buNone/>
            </a:pPr>
            <a:r>
              <a:rPr lang="en-US" sz="4400" b="1" dirty="0">
                <a:solidFill>
                  <a:srgbClr val="F0F6FC"/>
                </a:solidFill>
                <a:latin typeface="Cambria" pitchFamily="34" charset="0"/>
                <a:ea typeface="Cambria" pitchFamily="34" charset="-122"/>
                <a:cs typeface="Cambria" pitchFamily="34" charset="-120"/>
              </a:rPr>
              <a:t>Infrastructure</a:t>
            </a:r>
            <a:endParaRPr lang="en-US" sz="4400" dirty="0"/>
          </a:p>
        </p:txBody>
      </p:sp>
      <p:sp>
        <p:nvSpPr>
          <p:cNvPr id="5" name="Text 3"/>
          <p:cNvSpPr/>
          <p:nvPr/>
        </p:nvSpPr>
        <p:spPr>
          <a:xfrm>
            <a:off x="640080" y="2103120"/>
            <a:ext cx="7863840" cy="457200"/>
          </a:xfrm>
          <a:prstGeom prst="rect">
            <a:avLst/>
          </a:prstGeom>
          <a:noFill/>
          <a:ln/>
        </p:spPr>
        <p:txBody>
          <a:bodyPr wrap="square" rtlCol="0" anchor="ctr"/>
          <a:lstStyle/>
          <a:p>
            <a:pPr indent="0" marL="0">
              <a:buNone/>
            </a:pPr>
            <a:r>
              <a:rPr lang="en-US" sz="1800" dirty="0">
                <a:solidFill>
                  <a:srgbClr val="1D9E75"/>
                </a:solidFill>
                <a:latin typeface="Calibri" pitchFamily="34" charset="0"/>
                <a:ea typeface="Calibri" pitchFamily="34" charset="-122"/>
                <a:cs typeface="Calibri" pitchFamily="34" charset="-120"/>
              </a:rPr>
              <a:t>Runbook Automation with Genkit Go &amp; Google Gemini</a:t>
            </a:r>
            <a:endParaRPr lang="en-US" sz="1800" dirty="0"/>
          </a:p>
        </p:txBody>
      </p:sp>
      <p:sp>
        <p:nvSpPr>
          <p:cNvPr id="6" name="Shape 4"/>
          <p:cNvSpPr/>
          <p:nvPr/>
        </p:nvSpPr>
        <p:spPr>
          <a:xfrm>
            <a:off x="640080" y="2697480"/>
            <a:ext cx="7863840" cy="1691640"/>
          </a:xfrm>
          <a:prstGeom prst="roundRect">
            <a:avLst>
              <a:gd name="adj" fmla="val 4324"/>
            </a:avLst>
          </a:prstGeom>
          <a:solidFill>
            <a:srgbClr val="161B22"/>
          </a:solidFill>
          <a:ln w="6350">
            <a:solidFill>
              <a:srgbClr val="30363D"/>
            </a:solidFill>
            <a:prstDash val="solid"/>
          </a:ln>
        </p:spPr>
      </p:sp>
      <p:sp>
        <p:nvSpPr>
          <p:cNvPr id="7" name="Text 5"/>
          <p:cNvSpPr/>
          <p:nvPr/>
        </p:nvSpPr>
        <p:spPr>
          <a:xfrm>
            <a:off x="822960" y="2816352"/>
            <a:ext cx="7498080" cy="201168"/>
          </a:xfrm>
          <a:prstGeom prst="rect">
            <a:avLst/>
          </a:prstGeom>
          <a:noFill/>
          <a:ln/>
        </p:spPr>
        <p:txBody>
          <a:bodyPr wrap="square" rtlCol="0" anchor="ctr"/>
          <a:lstStyle/>
          <a:p>
            <a:pPr indent="0" marL="0">
              <a:buNone/>
            </a:pPr>
            <a:r>
              <a:rPr lang="en-US" sz="1050" dirty="0">
                <a:solidFill>
                  <a:srgbClr val="39D353"/>
                </a:solidFill>
                <a:latin typeface="Courier New" pitchFamily="34" charset="0"/>
                <a:ea typeface="Courier New" pitchFamily="34" charset="-122"/>
                <a:cs typeface="Courier New" pitchFamily="34" charset="-120"/>
              </a:rPr>
              <a:t>$ </a:t>
            </a:r>
            <a:pPr indent="0" marL="0">
              <a:buNone/>
            </a:pPr>
            <a:r>
              <a:rPr lang="en-US" sz="1050" dirty="0">
                <a:solidFill>
                  <a:srgbClr val="F0F6FC"/>
                </a:solidFill>
                <a:latin typeface="Courier New" pitchFamily="34" charset="0"/>
                <a:ea typeface="Courier New" pitchFamily="34" charset="-122"/>
                <a:cs typeface="Courier New" pitchFamily="34" charset="-120"/>
              </a:rPr>
              <a:t>kubectl get pods -n production</a:t>
            </a:r>
            <a:endParaRPr lang="en-US" sz="1050" dirty="0"/>
          </a:p>
        </p:txBody>
      </p:sp>
      <p:sp>
        <p:nvSpPr>
          <p:cNvPr id="8" name="Text 6"/>
          <p:cNvSpPr/>
          <p:nvPr/>
        </p:nvSpPr>
        <p:spPr>
          <a:xfrm>
            <a:off x="822960" y="3031236"/>
            <a:ext cx="7498080" cy="201168"/>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  </a:t>
            </a:r>
            <a:pPr indent="0" marL="0">
              <a:buNone/>
            </a:pPr>
            <a:r>
              <a:rPr lang="en-US" sz="1050" dirty="0">
                <a:solidFill>
                  <a:srgbClr val="E24B4A"/>
                </a:solidFill>
                <a:latin typeface="Courier New" pitchFamily="34" charset="0"/>
                <a:ea typeface="Courier New" pitchFamily="34" charset="-122"/>
                <a:cs typeface="Courier New" pitchFamily="34" charset="-120"/>
              </a:rPr>
              <a:t>payment-service-7d8f9b2c   0/1   Error   5   2m</a:t>
            </a:r>
            <a:endParaRPr lang="en-US" sz="1050" dirty="0"/>
          </a:p>
        </p:txBody>
      </p:sp>
      <p:sp>
        <p:nvSpPr>
          <p:cNvPr id="9" name="Text 7"/>
          <p:cNvSpPr/>
          <p:nvPr/>
        </p:nvSpPr>
        <p:spPr>
          <a:xfrm>
            <a:off x="822960" y="3246120"/>
            <a:ext cx="7498080" cy="201168"/>
          </a:xfrm>
          <a:prstGeom prst="rect">
            <a:avLst/>
          </a:prstGeom>
          <a:noFill/>
          <a:ln/>
        </p:spPr>
        <p:txBody>
          <a:bodyPr wrap="square" rtlCol="0" anchor="ctr"/>
          <a:lstStyle/>
          <a:p>
            <a:pPr indent="0" marL="0">
              <a:buNone/>
            </a:pPr>
            <a:r>
              <a:rPr lang="en-US" sz="1050" dirty="0">
                <a:solidFill>
                  <a:srgbClr val="39D353"/>
                </a:solidFill>
                <a:latin typeface="Courier New" pitchFamily="34" charset="0"/>
                <a:ea typeface="Courier New" pitchFamily="34" charset="-122"/>
                <a:cs typeface="Courier New" pitchFamily="34" charset="-120"/>
              </a:rPr>
              <a:t>$ </a:t>
            </a:r>
            <a:pPr indent="0" marL="0">
              <a:buNone/>
            </a:pPr>
            <a:r>
              <a:rPr lang="en-US" sz="1050" dirty="0">
                <a:solidFill>
                  <a:srgbClr val="F0F6FC"/>
                </a:solidFill>
                <a:latin typeface="Courier New" pitchFamily="34" charset="0"/>
                <a:ea typeface="Courier New" pitchFamily="34" charset="-122"/>
                <a:cs typeface="Courier New" pitchFamily="34" charset="-120"/>
              </a:rPr>
              <a:t>kubectl logs payment-service-7d8f9b2c --tail=3</a:t>
            </a:r>
            <a:endParaRPr lang="en-US" sz="1050" dirty="0"/>
          </a:p>
        </p:txBody>
      </p:sp>
      <p:sp>
        <p:nvSpPr>
          <p:cNvPr id="10" name="Text 8"/>
          <p:cNvSpPr/>
          <p:nvPr/>
        </p:nvSpPr>
        <p:spPr>
          <a:xfrm>
            <a:off x="822960" y="3461004"/>
            <a:ext cx="7498080" cy="201168"/>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  </a:t>
            </a:r>
            <a:pPr indent="0" marL="0">
              <a:buNone/>
            </a:pPr>
            <a:r>
              <a:rPr lang="en-US" sz="1050" dirty="0">
                <a:solidFill>
                  <a:srgbClr val="E24B4A"/>
                </a:solidFill>
                <a:latin typeface="Courier New" pitchFamily="34" charset="0"/>
                <a:ea typeface="Courier New" pitchFamily="34" charset="-122"/>
                <a:cs typeface="Courier New" pitchFamily="34" charset="-120"/>
              </a:rPr>
              <a:t>FATAL: Connection refused: database-primary:5432</a:t>
            </a:r>
            <a:endParaRPr lang="en-US" sz="1050" dirty="0"/>
          </a:p>
        </p:txBody>
      </p:sp>
      <p:sp>
        <p:nvSpPr>
          <p:cNvPr id="11" name="Text 9"/>
          <p:cNvSpPr/>
          <p:nvPr/>
        </p:nvSpPr>
        <p:spPr>
          <a:xfrm>
            <a:off x="822960" y="3675888"/>
            <a:ext cx="7498080" cy="201168"/>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  </a:t>
            </a:r>
            <a:pPr indent="0" marL="0">
              <a:buNone/>
            </a:pPr>
            <a:r>
              <a:rPr lang="en-US" sz="1050" dirty="0">
                <a:solidFill>
                  <a:srgbClr val="EF9F27"/>
                </a:solidFill>
                <a:latin typeface="Courier New" pitchFamily="34" charset="0"/>
                <a:ea typeface="Courier New" pitchFamily="34" charset="-122"/>
                <a:cs typeface="Courier New" pitchFamily="34" charset="-120"/>
              </a:rPr>
              <a:t>FATAL: Circuit breaker OPEN — 847 queries queued</a:t>
            </a:r>
            <a:endParaRPr lang="en-US" sz="1050" dirty="0"/>
          </a:p>
        </p:txBody>
      </p:sp>
      <p:sp>
        <p:nvSpPr>
          <p:cNvPr id="12" name="Text 10"/>
          <p:cNvSpPr/>
          <p:nvPr/>
        </p:nvSpPr>
        <p:spPr>
          <a:xfrm>
            <a:off x="822960" y="3890772"/>
            <a:ext cx="7498080" cy="201168"/>
          </a:xfrm>
          <a:prstGeom prst="rect">
            <a:avLst/>
          </a:prstGeom>
          <a:noFill/>
          <a:ln/>
        </p:spPr>
        <p:txBody>
          <a:bodyPr wrap="square" rtlCol="0" anchor="ctr"/>
          <a:lstStyle/>
          <a:p>
            <a:pPr indent="0" marL="0">
              <a:buNone/>
            </a:pPr>
            <a:r>
              <a:rPr lang="en-US" sz="1050" dirty="0">
                <a:solidFill>
                  <a:srgbClr val="39D353"/>
                </a:solidFill>
                <a:latin typeface="Courier New" pitchFamily="34" charset="0"/>
                <a:ea typeface="Courier New" pitchFamily="34" charset="-122"/>
                <a:cs typeface="Courier New" pitchFamily="34" charset="-120"/>
              </a:rPr>
              <a:t>$ </a:t>
            </a:r>
            <a:pPr indent="0" marL="0">
              <a:buNone/>
            </a:pPr>
            <a:r>
              <a:rPr lang="en-US" sz="1050" dirty="0">
                <a:solidFill>
                  <a:srgbClr val="F0F6FC"/>
                </a:solidFill>
                <a:latin typeface="Courier New" pitchFamily="34" charset="0"/>
                <a:ea typeface="Courier New" pitchFamily="34" charset="-122"/>
                <a:cs typeface="Courier New" pitchFamily="34" charset="-120"/>
              </a:rPr>
              <a:t>gemini-agent diagnose --runbook payment-gateway-failure.yaml</a:t>
            </a:r>
            <a:endParaRPr lang="en-US" sz="1050" dirty="0"/>
          </a:p>
        </p:txBody>
      </p:sp>
      <p:sp>
        <p:nvSpPr>
          <p:cNvPr id="13" name="Text 11"/>
          <p:cNvSpPr/>
          <p:nvPr/>
        </p:nvSpPr>
        <p:spPr>
          <a:xfrm>
            <a:off x="822960" y="4105656"/>
            <a:ext cx="7498080" cy="201168"/>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  </a:t>
            </a:r>
            <a:pPr indent="0" marL="0">
              <a:buNone/>
            </a:pPr>
            <a:r>
              <a:rPr lang="en-US" sz="1050" dirty="0">
                <a:solidFill>
                  <a:srgbClr val="39D353"/>
                </a:solidFill>
                <a:latin typeface="Courier New" pitchFamily="34" charset="0"/>
                <a:ea typeface="Courier New" pitchFamily="34" charset="-122"/>
                <a:cs typeface="Courier New" pitchFamily="34" charset="-120"/>
              </a:rPr>
              <a:t>Hypothesis: Stripe API outage (94% confidence) — awaiting approval ▋</a:t>
            </a:r>
            <a:endParaRPr lang="en-US" sz="1050" dirty="0"/>
          </a:p>
        </p:txBody>
      </p:sp>
      <p:sp>
        <p:nvSpPr>
          <p:cNvPr id="14" name="Text 12"/>
          <p:cNvSpPr/>
          <p:nvPr/>
        </p:nvSpPr>
        <p:spPr>
          <a:xfrm>
            <a:off x="640080" y="4663440"/>
            <a:ext cx="7863840" cy="32004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Maurice Nyanja  ·  @nutcas3  ·  Google I/O Extended Kisumu 2026  ·  30 min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rtlCol="0" anchor="ctr"/>
          <a:lstStyle/>
          <a:p>
            <a:pPr indent="0" marL="0">
              <a:buNone/>
            </a:pPr>
            <a:r>
              <a:rPr lang="en-US" sz="3200" b="1" dirty="0">
                <a:solidFill>
                  <a:srgbClr val="F0F6FC"/>
                </a:solidFill>
                <a:latin typeface="Cambria" pitchFamily="34" charset="0"/>
                <a:ea typeface="Cambria" pitchFamily="34" charset="-122"/>
                <a:cs typeface="Cambria" pitchFamily="34" charset="-120"/>
              </a:rPr>
              <a:t>The 2 AM Problem</a:t>
            </a:r>
            <a:endParaRPr lang="en-US" sz="3200" dirty="0"/>
          </a:p>
        </p:txBody>
      </p:sp>
      <p:sp>
        <p:nvSpPr>
          <p:cNvPr id="3" name="Shape 1"/>
          <p:cNvSpPr/>
          <p:nvPr/>
        </p:nvSpPr>
        <p:spPr>
          <a:xfrm>
            <a:off x="320040" y="1005840"/>
            <a:ext cx="2697480" cy="3291840"/>
          </a:xfrm>
          <a:prstGeom prst="roundRect">
            <a:avLst>
              <a:gd name="adj" fmla="val 2712"/>
            </a:avLst>
          </a:prstGeom>
          <a:solidFill>
            <a:srgbClr val="161B22"/>
          </a:solidFill>
          <a:ln w="6350">
            <a:solidFill>
              <a:srgbClr val="30363D"/>
            </a:solidFill>
            <a:prstDash val="solid"/>
          </a:ln>
        </p:spPr>
      </p:sp>
      <p:sp>
        <p:nvSpPr>
          <p:cNvPr id="4" name="Text 2"/>
          <p:cNvSpPr/>
          <p:nvPr/>
        </p:nvSpPr>
        <p:spPr>
          <a:xfrm>
            <a:off x="320040" y="1143000"/>
            <a:ext cx="2697480" cy="640080"/>
          </a:xfrm>
          <a:prstGeom prst="rect">
            <a:avLst/>
          </a:prstGeom>
          <a:noFill/>
          <a:ln/>
        </p:spPr>
        <p:txBody>
          <a:bodyPr wrap="square" rtlCol="0" anchor="ctr"/>
          <a:lstStyle/>
          <a:p>
            <a:pPr algn="ctr" indent="0" marL="0">
              <a:buNone/>
            </a:pPr>
            <a:r>
              <a:rPr lang="en-US" sz="2800" dirty="0">
                <a:solidFill>
                  <a:srgbClr val="E24B4A"/>
                </a:solidFill>
              </a:rPr>
              <a:t>📄</a:t>
            </a:r>
            <a:endParaRPr lang="en-US" sz="2800" dirty="0"/>
          </a:p>
        </p:txBody>
      </p:sp>
      <p:sp>
        <p:nvSpPr>
          <p:cNvPr id="5" name="Text 3"/>
          <p:cNvSpPr/>
          <p:nvPr/>
        </p:nvSpPr>
        <p:spPr>
          <a:xfrm>
            <a:off x="320040" y="1828800"/>
            <a:ext cx="2697480" cy="365760"/>
          </a:xfrm>
          <a:prstGeom prst="rect">
            <a:avLst/>
          </a:prstGeom>
          <a:noFill/>
          <a:ln/>
        </p:spPr>
        <p:txBody>
          <a:bodyPr wrap="square" rtlCol="0" anchor="ctr"/>
          <a:lstStyle/>
          <a:p>
            <a:pPr algn="ctr" indent="0" marL="0">
              <a:buNone/>
            </a:pPr>
            <a:r>
              <a:rPr lang="en-US" sz="1500" b="1" dirty="0">
                <a:solidFill>
                  <a:srgbClr val="E24B4A"/>
                </a:solidFill>
                <a:latin typeface="Calibri" pitchFamily="34" charset="0"/>
                <a:ea typeface="Calibri" pitchFamily="34" charset="-122"/>
                <a:cs typeface="Calibri" pitchFamily="34" charset="-120"/>
              </a:rPr>
              <a:t>Static docs</a:t>
            </a:r>
            <a:endParaRPr lang="en-US" sz="1500" dirty="0"/>
          </a:p>
        </p:txBody>
      </p:sp>
      <p:sp>
        <p:nvSpPr>
          <p:cNvPr id="6" name="Text 4"/>
          <p:cNvSpPr/>
          <p:nvPr/>
        </p:nvSpPr>
        <p:spPr>
          <a:xfrm>
            <a:off x="429768" y="2267712"/>
            <a:ext cx="2468880" cy="1828800"/>
          </a:xfrm>
          <a:prstGeom prst="rect">
            <a:avLst/>
          </a:prstGeom>
          <a:noFill/>
          <a:ln/>
        </p:spPr>
        <p:txBody>
          <a:bodyPr wrap="square" rtlCol="0" anchor="t"/>
          <a:lstStyle/>
          <a:p>
            <a:pPr indent="0" marL="0">
              <a:buNone/>
            </a:pPr>
            <a:r>
              <a:rPr lang="en-US" sz="1150" dirty="0">
                <a:solidFill>
                  <a:srgbClr val="8B949E"/>
                </a:solidFill>
                <a:latin typeface="Calibri" pitchFamily="34" charset="0"/>
                <a:ea typeface="Calibri" pitchFamily="34" charset="-122"/>
                <a:cs typeface="Calibri" pitchFamily="34" charset="-120"/>
              </a:rPr>
              <a:t>The runbook is a markdown file. Step 3 says 'check the database'. Which database? What error codes? The engineer who wrote this has left.</a:t>
            </a:r>
            <a:endParaRPr lang="en-US" sz="1150" dirty="0"/>
          </a:p>
        </p:txBody>
      </p:sp>
      <p:sp>
        <p:nvSpPr>
          <p:cNvPr id="7" name="Shape 5"/>
          <p:cNvSpPr/>
          <p:nvPr/>
        </p:nvSpPr>
        <p:spPr>
          <a:xfrm>
            <a:off x="3154680" y="1005840"/>
            <a:ext cx="2697480" cy="3291840"/>
          </a:xfrm>
          <a:prstGeom prst="roundRect">
            <a:avLst>
              <a:gd name="adj" fmla="val 2712"/>
            </a:avLst>
          </a:prstGeom>
          <a:solidFill>
            <a:srgbClr val="161B22"/>
          </a:solidFill>
          <a:ln w="6350">
            <a:solidFill>
              <a:srgbClr val="30363D"/>
            </a:solidFill>
            <a:prstDash val="solid"/>
          </a:ln>
        </p:spPr>
      </p:sp>
      <p:sp>
        <p:nvSpPr>
          <p:cNvPr id="8" name="Text 6"/>
          <p:cNvSpPr/>
          <p:nvPr/>
        </p:nvSpPr>
        <p:spPr>
          <a:xfrm>
            <a:off x="3154680" y="1143000"/>
            <a:ext cx="2697480" cy="640080"/>
          </a:xfrm>
          <a:prstGeom prst="rect">
            <a:avLst/>
          </a:prstGeom>
          <a:noFill/>
          <a:ln/>
        </p:spPr>
        <p:txBody>
          <a:bodyPr wrap="square" rtlCol="0" anchor="ctr"/>
          <a:lstStyle/>
          <a:p>
            <a:pPr algn="ctr" indent="0" marL="0">
              <a:buNone/>
            </a:pPr>
            <a:r>
              <a:rPr lang="en-US" sz="2800" dirty="0">
                <a:solidFill>
                  <a:srgbClr val="EF9F27"/>
                </a:solidFill>
              </a:rPr>
              <a:t>😴</a:t>
            </a:r>
            <a:endParaRPr lang="en-US" sz="2800" dirty="0"/>
          </a:p>
        </p:txBody>
      </p:sp>
      <p:sp>
        <p:nvSpPr>
          <p:cNvPr id="9" name="Text 7"/>
          <p:cNvSpPr/>
          <p:nvPr/>
        </p:nvSpPr>
        <p:spPr>
          <a:xfrm>
            <a:off x="3154680" y="1828800"/>
            <a:ext cx="2697480" cy="365760"/>
          </a:xfrm>
          <a:prstGeom prst="rect">
            <a:avLst/>
          </a:prstGeom>
          <a:noFill/>
          <a:ln/>
        </p:spPr>
        <p:txBody>
          <a:bodyPr wrap="square" rtlCol="0" anchor="ctr"/>
          <a:lstStyle/>
          <a:p>
            <a:pPr algn="ctr" indent="0" marL="0">
              <a:buNone/>
            </a:pPr>
            <a:r>
              <a:rPr lang="en-US" sz="1500" b="1" dirty="0">
                <a:solidFill>
                  <a:srgbClr val="EF9F27"/>
                </a:solidFill>
                <a:latin typeface="Calibri" pitchFamily="34" charset="0"/>
                <a:ea typeface="Calibri" pitchFamily="34" charset="-122"/>
                <a:cs typeface="Calibri" pitchFamily="34" charset="-120"/>
              </a:rPr>
              <a:t>Human bottleneck</a:t>
            </a:r>
            <a:endParaRPr lang="en-US" sz="1500" dirty="0"/>
          </a:p>
        </p:txBody>
      </p:sp>
      <p:sp>
        <p:nvSpPr>
          <p:cNvPr id="10" name="Text 8"/>
          <p:cNvSpPr/>
          <p:nvPr/>
        </p:nvSpPr>
        <p:spPr>
          <a:xfrm>
            <a:off x="3264408" y="2267712"/>
            <a:ext cx="2468880" cy="1828800"/>
          </a:xfrm>
          <a:prstGeom prst="rect">
            <a:avLst/>
          </a:prstGeom>
          <a:noFill/>
          <a:ln/>
        </p:spPr>
        <p:txBody>
          <a:bodyPr wrap="square" rtlCol="0" anchor="t"/>
          <a:lstStyle/>
          <a:p>
            <a:pPr indent="0" marL="0">
              <a:buNone/>
            </a:pPr>
            <a:r>
              <a:rPr lang="en-US" sz="1150" dirty="0">
                <a:solidFill>
                  <a:srgbClr val="8B949E"/>
                </a:solidFill>
                <a:latin typeface="Calibri" pitchFamily="34" charset="0"/>
                <a:ea typeface="Calibri" pitchFamily="34" charset="-122"/>
                <a:cs typeface="Calibri" pitchFamily="34" charset="-120"/>
              </a:rPr>
              <a:t>Alert → page → wake up → find runbook → copy-paste commands → hope. 35 minutes. Target: 5. Every step requires human cognition under pressure at 2 AM.</a:t>
            </a:r>
            <a:endParaRPr lang="en-US" sz="1150" dirty="0"/>
          </a:p>
        </p:txBody>
      </p:sp>
      <p:sp>
        <p:nvSpPr>
          <p:cNvPr id="11" name="Shape 9"/>
          <p:cNvSpPr/>
          <p:nvPr/>
        </p:nvSpPr>
        <p:spPr>
          <a:xfrm>
            <a:off x="5989320" y="1005840"/>
            <a:ext cx="2697480" cy="3291840"/>
          </a:xfrm>
          <a:prstGeom prst="roundRect">
            <a:avLst>
              <a:gd name="adj" fmla="val 2712"/>
            </a:avLst>
          </a:prstGeom>
          <a:solidFill>
            <a:srgbClr val="161B22"/>
          </a:solidFill>
          <a:ln w="6350">
            <a:solidFill>
              <a:srgbClr val="30363D"/>
            </a:solidFill>
            <a:prstDash val="solid"/>
          </a:ln>
        </p:spPr>
      </p:sp>
      <p:sp>
        <p:nvSpPr>
          <p:cNvPr id="12" name="Text 10"/>
          <p:cNvSpPr/>
          <p:nvPr/>
        </p:nvSpPr>
        <p:spPr>
          <a:xfrm>
            <a:off x="5989320" y="1143000"/>
            <a:ext cx="2697480" cy="640080"/>
          </a:xfrm>
          <a:prstGeom prst="rect">
            <a:avLst/>
          </a:prstGeom>
          <a:noFill/>
          <a:ln/>
        </p:spPr>
        <p:txBody>
          <a:bodyPr wrap="square" rtlCol="0" anchor="ctr"/>
          <a:lstStyle/>
          <a:p>
            <a:pPr algn="ctr" indent="0" marL="0">
              <a:buNone/>
            </a:pPr>
            <a:r>
              <a:rPr lang="en-US" sz="2800" dirty="0">
                <a:solidFill>
                  <a:srgbClr val="58A6FF"/>
                </a:solidFill>
              </a:rPr>
              <a:t>📉</a:t>
            </a:r>
            <a:endParaRPr lang="en-US" sz="2800" dirty="0"/>
          </a:p>
        </p:txBody>
      </p:sp>
      <p:sp>
        <p:nvSpPr>
          <p:cNvPr id="13" name="Text 11"/>
          <p:cNvSpPr/>
          <p:nvPr/>
        </p:nvSpPr>
        <p:spPr>
          <a:xfrm>
            <a:off x="5989320" y="1828800"/>
            <a:ext cx="2697480" cy="365760"/>
          </a:xfrm>
          <a:prstGeom prst="rect">
            <a:avLst/>
          </a:prstGeom>
          <a:noFill/>
          <a:ln/>
        </p:spPr>
        <p:txBody>
          <a:bodyPr wrap="square" rtlCol="0" anchor="ctr"/>
          <a:lstStyle/>
          <a:p>
            <a:pPr algn="ctr" indent="0" marL="0">
              <a:buNone/>
            </a:pPr>
            <a:r>
              <a:rPr lang="en-US" sz="1500" b="1" dirty="0">
                <a:solidFill>
                  <a:srgbClr val="58A6FF"/>
                </a:solidFill>
                <a:latin typeface="Calibri" pitchFamily="34" charset="0"/>
                <a:ea typeface="Calibri" pitchFamily="34" charset="-122"/>
                <a:cs typeface="Calibri" pitchFamily="34" charset="-120"/>
              </a:rPr>
              <a:t>MTTR bloat</a:t>
            </a:r>
            <a:endParaRPr lang="en-US" sz="1500" dirty="0"/>
          </a:p>
        </p:txBody>
      </p:sp>
      <p:sp>
        <p:nvSpPr>
          <p:cNvPr id="14" name="Text 12"/>
          <p:cNvSpPr/>
          <p:nvPr/>
        </p:nvSpPr>
        <p:spPr>
          <a:xfrm>
            <a:off x="6099048" y="2267712"/>
            <a:ext cx="2468880" cy="1828800"/>
          </a:xfrm>
          <a:prstGeom prst="rect">
            <a:avLst/>
          </a:prstGeom>
          <a:noFill/>
          <a:ln/>
        </p:spPr>
        <p:txBody>
          <a:bodyPr wrap="square" rtlCol="0" anchor="t"/>
          <a:lstStyle/>
          <a:p>
            <a:pPr indent="0" marL="0">
              <a:buNone/>
            </a:pPr>
            <a:r>
              <a:rPr lang="en-US" sz="1150" dirty="0">
                <a:solidFill>
                  <a:srgbClr val="8B949E"/>
                </a:solidFill>
                <a:latin typeface="Calibri" pitchFamily="34" charset="0"/>
                <a:ea typeface="Calibri" pitchFamily="34" charset="-122"/>
                <a:cs typeface="Calibri" pitchFamily="34" charset="-120"/>
              </a:rPr>
              <a:t>Simple restart: 15m (should be 2). DB failover: 45m (should be 10). Your MTTR isn't a systems problem. It's a documentation problem.</a:t>
            </a:r>
            <a:endParaRPr lang="en-US" sz="1150" dirty="0"/>
          </a:p>
        </p:txBody>
      </p:sp>
      <p:sp>
        <p:nvSpPr>
          <p:cNvPr id="15" name="Text 13"/>
          <p:cNvSpPr/>
          <p:nvPr/>
        </p:nvSpPr>
        <p:spPr>
          <a:xfrm>
            <a:off x="640080" y="4462272"/>
            <a:ext cx="7863840" cy="365760"/>
          </a:xfrm>
          <a:prstGeom prst="rect">
            <a:avLst/>
          </a:prstGeom>
          <a:noFill/>
          <a:ln/>
        </p:spPr>
        <p:txBody>
          <a:bodyPr wrap="square" rtlCol="0" anchor="ctr"/>
          <a:lstStyle/>
          <a:p>
            <a:pPr algn="ctr" indent="0" marL="0">
              <a:buNone/>
            </a:pPr>
            <a:r>
              <a:rPr lang="en-US" sz="1300" i="1" dirty="0">
                <a:solidFill>
                  <a:srgbClr val="EF9F27"/>
                </a:solidFill>
                <a:latin typeface="Calibri" pitchFamily="34" charset="0"/>
                <a:ea typeface="Calibri" pitchFamily="34" charset="-122"/>
                <a:cs typeface="Calibri" pitchFamily="34" charset="-120"/>
              </a:rPr>
              <a:t>All three problems have the same root cause: runbooks are treated as documentation, not infrastructure.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rtlCol="0" anchor="ctr"/>
          <a:lstStyle/>
          <a:p>
            <a:pPr indent="0" marL="0">
              <a:buNone/>
            </a:pPr>
            <a:r>
              <a:rPr lang="en-US" sz="3200" b="1" dirty="0">
                <a:solidFill>
                  <a:srgbClr val="F0F6FC"/>
                </a:solidFill>
                <a:latin typeface="Cambria" pitchFamily="34" charset="0"/>
                <a:ea typeface="Cambria" pitchFamily="34" charset="-122"/>
                <a:cs typeface="Cambria" pitchFamily="34" charset="-120"/>
              </a:rPr>
              <a:t>This problem is not new</a:t>
            </a:r>
            <a:endParaRPr lang="en-US" sz="3200" dirty="0"/>
          </a:p>
        </p:txBody>
      </p:sp>
      <p:sp>
        <p:nvSpPr>
          <p:cNvPr id="3" name="Shape 1"/>
          <p:cNvSpPr/>
          <p:nvPr/>
        </p:nvSpPr>
        <p:spPr>
          <a:xfrm>
            <a:off x="320040" y="914400"/>
            <a:ext cx="3977640" cy="3794760"/>
          </a:xfrm>
          <a:prstGeom prst="roundRect">
            <a:avLst>
              <a:gd name="adj" fmla="val 1928"/>
            </a:avLst>
          </a:prstGeom>
          <a:solidFill>
            <a:srgbClr val="161B22"/>
          </a:solidFill>
          <a:ln w="6350">
            <a:solidFill>
              <a:srgbClr val="30363D"/>
            </a:solidFill>
            <a:prstDash val="solid"/>
          </a:ln>
        </p:spPr>
      </p:sp>
      <p:sp>
        <p:nvSpPr>
          <p:cNvPr id="4" name="Text 2"/>
          <p:cNvSpPr/>
          <p:nvPr/>
        </p:nvSpPr>
        <p:spPr>
          <a:xfrm>
            <a:off x="457200" y="1024128"/>
            <a:ext cx="3657600" cy="384048"/>
          </a:xfrm>
          <a:prstGeom prst="rect">
            <a:avLst/>
          </a:prstGeom>
          <a:noFill/>
          <a:ln/>
        </p:spPr>
        <p:txBody>
          <a:bodyPr wrap="square" rtlCol="0" anchor="ctr"/>
          <a:lstStyle/>
          <a:p>
            <a:pPr indent="0" marL="0">
              <a:buNone/>
            </a:pPr>
            <a:r>
              <a:rPr lang="en-US" sz="1700" b="1" dirty="0">
                <a:solidFill>
                  <a:srgbClr val="58A6FF"/>
                </a:solidFill>
                <a:latin typeface="Calibri" pitchFamily="34" charset="0"/>
                <a:ea typeface="Calibri" pitchFamily="34" charset="-122"/>
                <a:cs typeface="Calibri" pitchFamily="34" charset="-120"/>
              </a:rPr>
              <a:t>✈  Aviation</a:t>
            </a:r>
            <a:endParaRPr lang="en-US" sz="1700" dirty="0"/>
          </a:p>
        </p:txBody>
      </p:sp>
      <p:sp>
        <p:nvSpPr>
          <p:cNvPr id="5" name="Text 3"/>
          <p:cNvSpPr/>
          <p:nvPr/>
        </p:nvSpPr>
        <p:spPr>
          <a:xfrm>
            <a:off x="457200" y="1463040"/>
            <a:ext cx="3703320" cy="3063240"/>
          </a:xfrm>
          <a:prstGeom prst="rect">
            <a:avLst/>
          </a:prstGeom>
          <a:noFill/>
          <a:ln/>
        </p:spPr>
        <p:txBody>
          <a:bodyPr wrap="square" rtlCol="0" anchor="t"/>
          <a:lstStyle/>
          <a:p>
            <a:pPr indent="0" marL="0">
              <a:buNone/>
            </a:pPr>
            <a:r>
              <a:rPr lang="en-US" sz="1150" dirty="0">
                <a:solidFill>
                  <a:srgbClr val="8B949E"/>
                </a:solidFill>
                <a:latin typeface="Calibri" pitchFamily="34" charset="0"/>
                <a:ea typeface="Calibri" pitchFamily="34" charset="-122"/>
                <a:cs typeface="Calibri" pitchFamily="34" charset="-120"/>
              </a:rPr>
              <a:t>March 27, 1977. Two Boeing 747s collide on a runway in Tenerife. 583 people die.</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The investigation found that every pilot had the information needed to avoid the crash. They lacked a process for turning that information into action under pressure.</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Aviation's response: the Quick Reference Handbook — a decision-tree document with zero ambiguity. Imperative steps. If X then Y. Non-negotiable. Every flight. Every pilot.</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Commercial aviation is now the safest form of transport in history.</a:t>
            </a:r>
            <a:endParaRPr lang="en-US" sz="1150" dirty="0"/>
          </a:p>
        </p:txBody>
      </p:sp>
      <p:sp>
        <p:nvSpPr>
          <p:cNvPr id="6" name="Shape 4"/>
          <p:cNvSpPr/>
          <p:nvPr/>
        </p:nvSpPr>
        <p:spPr>
          <a:xfrm>
            <a:off x="4846320" y="914400"/>
            <a:ext cx="3977640" cy="3794760"/>
          </a:xfrm>
          <a:prstGeom prst="roundRect">
            <a:avLst>
              <a:gd name="adj" fmla="val 1928"/>
            </a:avLst>
          </a:prstGeom>
          <a:solidFill>
            <a:srgbClr val="161B22"/>
          </a:solidFill>
          <a:ln w="6350">
            <a:solidFill>
              <a:srgbClr val="30363D"/>
            </a:solidFill>
            <a:prstDash val="solid"/>
          </a:ln>
        </p:spPr>
      </p:sp>
      <p:sp>
        <p:nvSpPr>
          <p:cNvPr id="7" name="Text 5"/>
          <p:cNvSpPr/>
          <p:nvPr/>
        </p:nvSpPr>
        <p:spPr>
          <a:xfrm>
            <a:off x="4983480" y="1024128"/>
            <a:ext cx="3657600" cy="384048"/>
          </a:xfrm>
          <a:prstGeom prst="rect">
            <a:avLst/>
          </a:prstGeom>
          <a:noFill/>
          <a:ln/>
        </p:spPr>
        <p:txBody>
          <a:bodyPr wrap="square" rtlCol="0" anchor="ctr"/>
          <a:lstStyle/>
          <a:p>
            <a:pPr indent="0" marL="0">
              <a:buNone/>
            </a:pPr>
            <a:r>
              <a:rPr lang="en-US" sz="1700" b="1" dirty="0">
                <a:solidFill>
                  <a:srgbClr val="E24B4A"/>
                </a:solidFill>
                <a:latin typeface="Calibri" pitchFamily="34" charset="0"/>
                <a:ea typeface="Calibri" pitchFamily="34" charset="-122"/>
                <a:cs typeface="Calibri" pitchFamily="34" charset="-120"/>
              </a:rPr>
              <a:t>♥  Medicine</a:t>
            </a:r>
            <a:endParaRPr lang="en-US" sz="1700" dirty="0"/>
          </a:p>
        </p:txBody>
      </p:sp>
      <p:sp>
        <p:nvSpPr>
          <p:cNvPr id="8" name="Text 6"/>
          <p:cNvSpPr/>
          <p:nvPr/>
        </p:nvSpPr>
        <p:spPr>
          <a:xfrm>
            <a:off x="4983480" y="1463040"/>
            <a:ext cx="3703320" cy="3063240"/>
          </a:xfrm>
          <a:prstGeom prst="rect">
            <a:avLst/>
          </a:prstGeom>
          <a:noFill/>
          <a:ln/>
        </p:spPr>
        <p:txBody>
          <a:bodyPr wrap="square" rtlCol="0" anchor="t"/>
          <a:lstStyle/>
          <a:p>
            <a:pPr indent="0" marL="0">
              <a:buNone/>
            </a:pPr>
            <a:r>
              <a:rPr lang="en-US" sz="1150" dirty="0">
                <a:solidFill>
                  <a:srgbClr val="8B949E"/>
                </a:solidFill>
                <a:latin typeface="Calibri" pitchFamily="34" charset="0"/>
                <a:ea typeface="Calibri" pitchFamily="34" charset="-122"/>
                <a:cs typeface="Calibri" pitchFamily="34" charset="-120"/>
              </a:rPr>
              <a:t>Dr. Atul Gawande studied a 19-item WHO surgical checklist across 8 hospitals worldwide.</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Post-surgery complications: reduced 36%.</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Deaths: reduced 47%.</a:t>
            </a: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Cost: zero.</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The insight: these aren't steps for junior staff. They're expert knowledge, encoded into a repeatable system — so that under pressure, with a patient bleeding on the table, nothing critical is forgotten.</a:t>
            </a:r>
            <a:endParaRPr lang="en-US" sz="1150" dirty="0"/>
          </a:p>
          <a:p>
            <a:pPr indent="0" marL="0">
              <a:buNone/>
            </a:pPr>
            <a:endParaRPr lang="en-US" sz="1150" dirty="0"/>
          </a:p>
          <a:p>
            <a:pPr indent="0" marL="0">
              <a:buNone/>
            </a:pPr>
            <a:r>
              <a:rPr lang="en-US" sz="1150" dirty="0">
                <a:solidFill>
                  <a:srgbClr val="8B949E"/>
                </a:solidFill>
                <a:latin typeface="Calibri" pitchFamily="34" charset="0"/>
                <a:ea typeface="Calibri" pitchFamily="34" charset="-122"/>
                <a:cs typeface="Calibri" pitchFamily="34" charset="-120"/>
              </a:rPr>
              <a:t>SOPs are how medicine scales expertise across people and time zones.</a:t>
            </a:r>
            <a:endParaRPr lang="en-US" sz="1150" dirty="0"/>
          </a:p>
        </p:txBody>
      </p:sp>
      <p:sp>
        <p:nvSpPr>
          <p:cNvPr id="9" name="Text 7"/>
          <p:cNvSpPr/>
          <p:nvPr/>
        </p:nvSpPr>
        <p:spPr>
          <a:xfrm>
            <a:off x="320040" y="4828032"/>
            <a:ext cx="8503920" cy="292608"/>
          </a:xfrm>
          <a:prstGeom prst="rect">
            <a:avLst/>
          </a:prstGeom>
          <a:noFill/>
          <a:ln/>
        </p:spPr>
        <p:txBody>
          <a:bodyPr wrap="square" rtlCol="0" anchor="ctr"/>
          <a:lstStyle/>
          <a:p>
            <a:pPr algn="ctr" indent="0" marL="0">
              <a:buNone/>
            </a:pPr>
            <a:r>
              <a:rPr lang="en-US" sz="1300" b="1" dirty="0">
                <a:solidFill>
                  <a:srgbClr val="EF9F27"/>
                </a:solidFill>
                <a:latin typeface="Cambria" pitchFamily="34" charset="0"/>
                <a:ea typeface="Cambria" pitchFamily="34" charset="-122"/>
                <a:cs typeface="Cambria" pitchFamily="34" charset="-120"/>
              </a:rPr>
              <a:t>Software has the equivalent. We call them runbooks. We treat them like markdown files nobody updates.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640080" y="256032"/>
            <a:ext cx="7863840" cy="438912"/>
          </a:xfrm>
          <a:prstGeom prst="rect">
            <a:avLst/>
          </a:prstGeom>
          <a:noFill/>
          <a:ln/>
        </p:spPr>
        <p:txBody>
          <a:bodyPr wrap="square" rtlCol="0" anchor="ctr"/>
          <a:lstStyle/>
          <a:p>
            <a:pPr indent="0" marL="0">
              <a:buNone/>
            </a:pPr>
            <a:r>
              <a:rPr lang="en-US" sz="2000" dirty="0">
                <a:solidFill>
                  <a:srgbClr val="8B949E"/>
                </a:solidFill>
                <a:latin typeface="Calibri" pitchFamily="34" charset="0"/>
                <a:ea typeface="Calibri" pitchFamily="34" charset="-122"/>
                <a:cs typeface="Calibri" pitchFamily="34" charset="-120"/>
              </a:rPr>
              <a:t>The Thesis</a:t>
            </a:r>
            <a:endParaRPr lang="en-US" sz="2000" dirty="0"/>
          </a:p>
        </p:txBody>
      </p:sp>
      <p:sp>
        <p:nvSpPr>
          <p:cNvPr id="3" name="Text 1"/>
          <p:cNvSpPr/>
          <p:nvPr/>
        </p:nvSpPr>
        <p:spPr>
          <a:xfrm>
            <a:off x="640080" y="749808"/>
            <a:ext cx="7863840" cy="1691640"/>
          </a:xfrm>
          <a:prstGeom prst="rect">
            <a:avLst/>
          </a:prstGeom>
          <a:noFill/>
          <a:ln/>
        </p:spPr>
        <p:txBody>
          <a:bodyPr wrap="square" rtlCol="0" anchor="ctr"/>
          <a:lstStyle/>
          <a:p>
            <a:pPr indent="0" marL="0">
              <a:buNone/>
            </a:pPr>
            <a:r>
              <a:rPr lang="en-US" sz="3800" b="1" dirty="0">
                <a:solidFill>
                  <a:srgbClr val="F0F6FC"/>
                </a:solidFill>
                <a:latin typeface="Cambria" pitchFamily="34" charset="0"/>
                <a:ea typeface="Cambria" pitchFamily="34" charset="-122"/>
                <a:cs typeface="Cambria" pitchFamily="34" charset="-120"/>
              </a:rPr>
              <a:t>In the era of non-deterministic LLMs,</a:t>
            </a:r>
            <a:endParaRPr lang="en-US" sz="3800" dirty="0"/>
          </a:p>
          <a:p>
            <a:pPr indent="0" marL="0">
              <a:buNone/>
            </a:pPr>
            <a:r>
              <a:rPr lang="en-US" sz="3800" b="1" dirty="0">
                <a:solidFill>
                  <a:srgbClr val="F0F6FC"/>
                </a:solidFill>
                <a:latin typeface="Cambria" pitchFamily="34" charset="0"/>
                <a:ea typeface="Cambria" pitchFamily="34" charset="-122"/>
                <a:cs typeface="Cambria" pitchFamily="34" charset="-120"/>
              </a:rPr>
              <a:t>we need deterministic runbooks.</a:t>
            </a:r>
            <a:endParaRPr lang="en-US" sz="3800" dirty="0"/>
          </a:p>
        </p:txBody>
      </p:sp>
      <p:sp>
        <p:nvSpPr>
          <p:cNvPr id="4" name="Shape 2"/>
          <p:cNvSpPr/>
          <p:nvPr/>
        </p:nvSpPr>
        <p:spPr>
          <a:xfrm>
            <a:off x="320040" y="2578608"/>
            <a:ext cx="4023360" cy="1783080"/>
          </a:xfrm>
          <a:prstGeom prst="roundRect">
            <a:avLst>
              <a:gd name="adj" fmla="val 4103"/>
            </a:avLst>
          </a:prstGeom>
          <a:solidFill>
            <a:srgbClr val="0D1117"/>
          </a:solidFill>
          <a:ln w="12700">
            <a:solidFill>
              <a:srgbClr val="E24B4A"/>
            </a:solidFill>
            <a:prstDash val="solid"/>
          </a:ln>
        </p:spPr>
      </p:sp>
      <p:sp>
        <p:nvSpPr>
          <p:cNvPr id="5" name="Text 3"/>
          <p:cNvSpPr/>
          <p:nvPr/>
        </p:nvSpPr>
        <p:spPr>
          <a:xfrm>
            <a:off x="457200" y="2651760"/>
            <a:ext cx="3749040" cy="347472"/>
          </a:xfrm>
          <a:prstGeom prst="rect">
            <a:avLst/>
          </a:prstGeom>
          <a:noFill/>
          <a:ln/>
        </p:spPr>
        <p:txBody>
          <a:bodyPr wrap="square" rtlCol="0" anchor="ctr"/>
          <a:lstStyle/>
          <a:p>
            <a:pPr indent="0" marL="0">
              <a:buNone/>
            </a:pPr>
            <a:r>
              <a:rPr lang="en-US" sz="1400" b="1" dirty="0">
                <a:solidFill>
                  <a:srgbClr val="E24B4A"/>
                </a:solidFill>
                <a:latin typeface="Calibri" pitchFamily="34" charset="0"/>
                <a:ea typeface="Calibri" pitchFamily="34" charset="-122"/>
                <a:cs typeface="Calibri" pitchFamily="34" charset="-120"/>
              </a:rPr>
              <a:t>LLMs are non-deterministic</a:t>
            </a:r>
            <a:endParaRPr lang="en-US" sz="1400" dirty="0"/>
          </a:p>
        </p:txBody>
      </p:sp>
      <p:sp>
        <p:nvSpPr>
          <p:cNvPr id="6" name="Text 4"/>
          <p:cNvSpPr/>
          <p:nvPr/>
        </p:nvSpPr>
        <p:spPr>
          <a:xfrm>
            <a:off x="457200" y="3035808"/>
            <a:ext cx="3749040" cy="1188720"/>
          </a:xfrm>
          <a:prstGeom prst="rect">
            <a:avLst/>
          </a:prstGeom>
          <a:noFill/>
          <a:ln/>
        </p:spPr>
        <p:txBody>
          <a:bodyPr wrap="square" rtlCol="0" anchor="ctr"/>
          <a:lstStyle/>
          <a:p>
            <a:pPr indent="0" marL="0">
              <a:buNone/>
            </a:pPr>
            <a:r>
              <a:rPr lang="en-US" sz="1200" dirty="0">
                <a:solidFill>
                  <a:srgbClr val="8B949E"/>
                </a:solidFill>
                <a:latin typeface="Calibri" pitchFamily="34" charset="0"/>
                <a:ea typeface="Calibri" pitchFamily="34" charset="-122"/>
                <a:cs typeface="Calibri" pitchFamily="34" charset="-120"/>
              </a:rPr>
              <a:t>Same prompt, different output. Probabilistic reasoning. You cannot ship non-determinism directly into a P0 incident response at 2 AM.</a:t>
            </a:r>
            <a:endParaRPr lang="en-US" sz="1200" dirty="0"/>
          </a:p>
        </p:txBody>
      </p:sp>
      <p:sp>
        <p:nvSpPr>
          <p:cNvPr id="7" name="Shape 5"/>
          <p:cNvSpPr/>
          <p:nvPr/>
        </p:nvSpPr>
        <p:spPr>
          <a:xfrm>
            <a:off x="4800600" y="2578608"/>
            <a:ext cx="4023360" cy="1783080"/>
          </a:xfrm>
          <a:prstGeom prst="roundRect">
            <a:avLst>
              <a:gd name="adj" fmla="val 4103"/>
            </a:avLst>
          </a:prstGeom>
          <a:solidFill>
            <a:srgbClr val="0D1117"/>
          </a:solidFill>
          <a:ln w="12700">
            <a:solidFill>
              <a:srgbClr val="39D353"/>
            </a:solidFill>
            <a:prstDash val="solid"/>
          </a:ln>
        </p:spPr>
      </p:sp>
      <p:sp>
        <p:nvSpPr>
          <p:cNvPr id="8" name="Text 6"/>
          <p:cNvSpPr/>
          <p:nvPr/>
        </p:nvSpPr>
        <p:spPr>
          <a:xfrm>
            <a:off x="4937760" y="2651760"/>
            <a:ext cx="3749040" cy="347472"/>
          </a:xfrm>
          <a:prstGeom prst="rect">
            <a:avLst/>
          </a:prstGeom>
          <a:noFill/>
          <a:ln/>
        </p:spPr>
        <p:txBody>
          <a:bodyPr wrap="square" rtlCol="0" anchor="ctr"/>
          <a:lstStyle/>
          <a:p>
            <a:pPr indent="0" marL="0">
              <a:buNone/>
            </a:pPr>
            <a:r>
              <a:rPr lang="en-US" sz="1400" b="1" dirty="0">
                <a:solidFill>
                  <a:srgbClr val="39D353"/>
                </a:solidFill>
                <a:latin typeface="Calibri" pitchFamily="34" charset="0"/>
                <a:ea typeface="Calibri" pitchFamily="34" charset="-122"/>
                <a:cs typeface="Calibri" pitchFamily="34" charset="-120"/>
              </a:rPr>
              <a:t>Runbooks are deterministic</a:t>
            </a:r>
            <a:endParaRPr lang="en-US" sz="1400" dirty="0"/>
          </a:p>
        </p:txBody>
      </p:sp>
      <p:sp>
        <p:nvSpPr>
          <p:cNvPr id="9" name="Text 7"/>
          <p:cNvSpPr/>
          <p:nvPr/>
        </p:nvSpPr>
        <p:spPr>
          <a:xfrm>
            <a:off x="4937760" y="3035808"/>
            <a:ext cx="3749040" cy="1188720"/>
          </a:xfrm>
          <a:prstGeom prst="rect">
            <a:avLst/>
          </a:prstGeom>
          <a:noFill/>
          <a:ln/>
        </p:spPr>
        <p:txBody>
          <a:bodyPr wrap="square" rtlCol="0" anchor="ctr"/>
          <a:lstStyle/>
          <a:p>
            <a:pPr indent="0" marL="0">
              <a:buNone/>
            </a:pPr>
            <a:r>
              <a:rPr lang="en-US" sz="1200" dirty="0">
                <a:solidFill>
                  <a:srgbClr val="8B949E"/>
                </a:solidFill>
                <a:latin typeface="Calibri" pitchFamily="34" charset="0"/>
                <a:ea typeface="Calibri" pitchFamily="34" charset="-122"/>
                <a:cs typeface="Calibri" pitchFamily="34" charset="-120"/>
              </a:rPr>
              <a:t>Step 1 → Step 2 → Step 3. If X then Y. Safe state boundaries. Approval gates. The runbook controls the LLM — not the other way around.</a:t>
            </a:r>
            <a:endParaRPr lang="en-US" sz="1200" dirty="0"/>
          </a:p>
        </p:txBody>
      </p:sp>
      <p:sp>
        <p:nvSpPr>
          <p:cNvPr id="10" name="Text 8"/>
          <p:cNvSpPr/>
          <p:nvPr/>
        </p:nvSpPr>
        <p:spPr>
          <a:xfrm>
            <a:off x="640080" y="4526280"/>
            <a:ext cx="7863840" cy="365760"/>
          </a:xfrm>
          <a:prstGeom prst="rect">
            <a:avLst/>
          </a:prstGeom>
          <a:noFill/>
          <a:ln/>
        </p:spPr>
        <p:txBody>
          <a:bodyPr wrap="square" rtlCol="0" anchor="ctr"/>
          <a:lstStyle/>
          <a:p>
            <a:pPr algn="ctr" indent="0" marL="0">
              <a:buNone/>
            </a:pPr>
            <a:r>
              <a:rPr lang="en-US" sz="1600" i="1" dirty="0">
                <a:solidFill>
                  <a:srgbClr val="BC8CFF"/>
                </a:solidFill>
                <a:latin typeface="Cambria" pitchFamily="34" charset="0"/>
                <a:ea typeface="Cambria" pitchFamily="34" charset="-122"/>
                <a:cs typeface="Cambria" pitchFamily="34" charset="-120"/>
              </a:rPr>
              <a:t>The LLM is the engine. The runbook is the track.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7863840" cy="530352"/>
          </a:xfrm>
          <a:prstGeom prst="rect">
            <a:avLst/>
          </a:prstGeom>
          <a:noFill/>
          <a:ln/>
        </p:spPr>
        <p:txBody>
          <a:bodyPr wrap="square" rtlCol="0" anchor="ctr"/>
          <a:lstStyle/>
          <a:p>
            <a:pPr indent="0" marL="0">
              <a:buNone/>
            </a:pPr>
            <a:r>
              <a:rPr lang="en-US" sz="2800" b="1" dirty="0">
                <a:solidFill>
                  <a:srgbClr val="F0F6FC"/>
                </a:solidFill>
                <a:latin typeface="Cambria" pitchFamily="34" charset="0"/>
                <a:ea typeface="Cambria" pitchFamily="34" charset="-122"/>
                <a:cs typeface="Cambria" pitchFamily="34" charset="-120"/>
              </a:rPr>
              <a:t>The Architecture</a:t>
            </a:r>
            <a:endParaRPr lang="en-US" sz="2800" dirty="0"/>
          </a:p>
        </p:txBody>
      </p:sp>
      <p:sp>
        <p:nvSpPr>
          <p:cNvPr id="3" name="Shape 1"/>
          <p:cNvSpPr/>
          <p:nvPr/>
        </p:nvSpPr>
        <p:spPr>
          <a:xfrm>
            <a:off x="256032" y="868680"/>
            <a:ext cx="1536192" cy="1371600"/>
          </a:xfrm>
          <a:prstGeom prst="roundRect">
            <a:avLst>
              <a:gd name="adj" fmla="val 5333"/>
            </a:avLst>
          </a:prstGeom>
          <a:solidFill>
            <a:srgbClr val="161B22"/>
          </a:solidFill>
          <a:ln w="19050">
            <a:solidFill>
              <a:srgbClr val="E24B4A"/>
            </a:solidFill>
            <a:prstDash val="solid"/>
          </a:ln>
        </p:spPr>
      </p:sp>
      <p:sp>
        <p:nvSpPr>
          <p:cNvPr id="4" name="Text 2"/>
          <p:cNvSpPr/>
          <p:nvPr/>
        </p:nvSpPr>
        <p:spPr>
          <a:xfrm>
            <a:off x="256032" y="960120"/>
            <a:ext cx="1536192" cy="658368"/>
          </a:xfrm>
          <a:prstGeom prst="rect">
            <a:avLst/>
          </a:prstGeom>
          <a:noFill/>
          <a:ln/>
        </p:spPr>
        <p:txBody>
          <a:bodyPr wrap="square" rtlCol="0" anchor="ctr"/>
          <a:lstStyle/>
          <a:p>
            <a:pPr algn="ctr" indent="0" marL="0">
              <a:buNone/>
            </a:pPr>
            <a:r>
              <a:rPr lang="en-US" sz="1250" b="1" dirty="0">
                <a:solidFill>
                  <a:srgbClr val="E24B4A"/>
                </a:solidFill>
                <a:latin typeface="Calibri" pitchFamily="34" charset="0"/>
                <a:ea typeface="Calibri" pitchFamily="34" charset="-122"/>
                <a:cs typeface="Calibri" pitchFamily="34" charset="-120"/>
              </a:rPr>
              <a:t>Alert</a:t>
            </a:r>
            <a:endParaRPr lang="en-US" sz="1250" dirty="0"/>
          </a:p>
          <a:p>
            <a:pPr algn="ctr" indent="0" marL="0">
              <a:buNone/>
            </a:pPr>
            <a:r>
              <a:rPr lang="en-US" sz="1250" b="1" dirty="0">
                <a:solidFill>
                  <a:srgbClr val="E24B4A"/>
                </a:solidFill>
                <a:latin typeface="Calibri" pitchFamily="34" charset="0"/>
                <a:ea typeface="Calibri" pitchFamily="34" charset="-122"/>
                <a:cs typeface="Calibri" pitchFamily="34" charset="-120"/>
              </a:rPr>
              <a:t>Trigger</a:t>
            </a:r>
            <a:endParaRPr lang="en-US" sz="1250" dirty="0"/>
          </a:p>
        </p:txBody>
      </p:sp>
      <p:sp>
        <p:nvSpPr>
          <p:cNvPr id="5" name="Text 3"/>
          <p:cNvSpPr/>
          <p:nvPr/>
        </p:nvSpPr>
        <p:spPr>
          <a:xfrm>
            <a:off x="256032" y="1645920"/>
            <a:ext cx="1536192" cy="457200"/>
          </a:xfrm>
          <a:prstGeom prst="rect">
            <a:avLst/>
          </a:prstGeom>
          <a:noFill/>
          <a:ln/>
        </p:spPr>
        <p:txBody>
          <a:bodyPr wrap="square" rtlCol="0" anchor="ctr"/>
          <a:lstStyle/>
          <a:p>
            <a:pPr algn="ctr" indent="0" marL="0">
              <a:buNone/>
            </a:pPr>
            <a:r>
              <a:rPr lang="en-US" sz="950" dirty="0">
                <a:solidFill>
                  <a:srgbClr val="8B949E"/>
                </a:solidFill>
                <a:latin typeface="Courier New" pitchFamily="34" charset="0"/>
                <a:ea typeface="Courier New" pitchFamily="34" charset="-122"/>
                <a:cs typeface="Courier New" pitchFamily="34" charset="-120"/>
              </a:rPr>
              <a:t>Prometheus webhook</a:t>
            </a:r>
            <a:endParaRPr lang="en-US" sz="950" dirty="0"/>
          </a:p>
        </p:txBody>
      </p:sp>
      <p:sp>
        <p:nvSpPr>
          <p:cNvPr id="6" name="Shape 4"/>
          <p:cNvSpPr/>
          <p:nvPr/>
        </p:nvSpPr>
        <p:spPr>
          <a:xfrm>
            <a:off x="1792224" y="1554480"/>
            <a:ext cx="201168" cy="0"/>
          </a:xfrm>
          <a:prstGeom prst="line">
            <a:avLst/>
          </a:prstGeom>
          <a:noFill/>
          <a:ln w="15240">
            <a:solidFill>
              <a:srgbClr val="8B949E"/>
            </a:solidFill>
            <a:prstDash val="solid"/>
          </a:ln>
        </p:spPr>
      </p:sp>
      <p:sp>
        <p:nvSpPr>
          <p:cNvPr id="7" name="Shape 5"/>
          <p:cNvSpPr/>
          <p:nvPr/>
        </p:nvSpPr>
        <p:spPr>
          <a:xfrm>
            <a:off x="1993392" y="868680"/>
            <a:ext cx="1536192" cy="1371600"/>
          </a:xfrm>
          <a:prstGeom prst="roundRect">
            <a:avLst>
              <a:gd name="adj" fmla="val 5333"/>
            </a:avLst>
          </a:prstGeom>
          <a:solidFill>
            <a:srgbClr val="161B22"/>
          </a:solidFill>
          <a:ln w="19050">
            <a:solidFill>
              <a:srgbClr val="EF9F27"/>
            </a:solidFill>
            <a:prstDash val="solid"/>
          </a:ln>
        </p:spPr>
      </p:sp>
      <p:sp>
        <p:nvSpPr>
          <p:cNvPr id="8" name="Text 6"/>
          <p:cNvSpPr/>
          <p:nvPr/>
        </p:nvSpPr>
        <p:spPr>
          <a:xfrm>
            <a:off x="1993392" y="960120"/>
            <a:ext cx="1536192" cy="658368"/>
          </a:xfrm>
          <a:prstGeom prst="rect">
            <a:avLst/>
          </a:prstGeom>
          <a:noFill/>
          <a:ln/>
        </p:spPr>
        <p:txBody>
          <a:bodyPr wrap="square" rtlCol="0" anchor="ctr"/>
          <a:lstStyle/>
          <a:p>
            <a:pPr algn="ctr" indent="0" marL="0">
              <a:buNone/>
            </a:pPr>
            <a:r>
              <a:rPr lang="en-US" sz="1250" b="1" dirty="0">
                <a:solidFill>
                  <a:srgbClr val="EF9F27"/>
                </a:solidFill>
                <a:latin typeface="Calibri" pitchFamily="34" charset="0"/>
                <a:ea typeface="Calibri" pitchFamily="34" charset="-122"/>
                <a:cs typeface="Calibri" pitchFamily="34" charset="-120"/>
              </a:rPr>
              <a:t>Runbook</a:t>
            </a:r>
            <a:endParaRPr lang="en-US" sz="1250" dirty="0"/>
          </a:p>
          <a:p>
            <a:pPr algn="ctr" indent="0" marL="0">
              <a:buNone/>
            </a:pPr>
            <a:r>
              <a:rPr lang="en-US" sz="1250" b="1" dirty="0">
                <a:solidFill>
                  <a:srgbClr val="EF9F27"/>
                </a:solidFill>
                <a:latin typeface="Calibri" pitchFamily="34" charset="0"/>
                <a:ea typeface="Calibri" pitchFamily="34" charset="-122"/>
                <a:cs typeface="Calibri" pitchFamily="34" charset="-120"/>
              </a:rPr>
              <a:t>Parser</a:t>
            </a:r>
            <a:endParaRPr lang="en-US" sz="1250" dirty="0"/>
          </a:p>
        </p:txBody>
      </p:sp>
      <p:sp>
        <p:nvSpPr>
          <p:cNvPr id="9" name="Text 7"/>
          <p:cNvSpPr/>
          <p:nvPr/>
        </p:nvSpPr>
        <p:spPr>
          <a:xfrm>
            <a:off x="1993392" y="1645920"/>
            <a:ext cx="1536192" cy="457200"/>
          </a:xfrm>
          <a:prstGeom prst="rect">
            <a:avLst/>
          </a:prstGeom>
          <a:noFill/>
          <a:ln/>
        </p:spPr>
        <p:txBody>
          <a:bodyPr wrap="square" rtlCol="0" anchor="ctr"/>
          <a:lstStyle/>
          <a:p>
            <a:pPr algn="ctr" indent="0" marL="0">
              <a:buNone/>
            </a:pPr>
            <a:r>
              <a:rPr lang="en-US" sz="950" dirty="0">
                <a:solidFill>
                  <a:srgbClr val="8B949E"/>
                </a:solidFill>
                <a:latin typeface="Courier New" pitchFamily="34" charset="0"/>
                <a:ea typeface="Courier New" pitchFamily="34" charset="-122"/>
                <a:cs typeface="Courier New" pitchFamily="34" charset="-120"/>
              </a:rPr>
              <a:t>YAML → typed struct</a:t>
            </a:r>
            <a:endParaRPr lang="en-US" sz="950" dirty="0"/>
          </a:p>
        </p:txBody>
      </p:sp>
      <p:sp>
        <p:nvSpPr>
          <p:cNvPr id="10" name="Shape 8"/>
          <p:cNvSpPr/>
          <p:nvPr/>
        </p:nvSpPr>
        <p:spPr>
          <a:xfrm>
            <a:off x="3529584" y="1554480"/>
            <a:ext cx="201168" cy="0"/>
          </a:xfrm>
          <a:prstGeom prst="line">
            <a:avLst/>
          </a:prstGeom>
          <a:noFill/>
          <a:ln w="15240">
            <a:solidFill>
              <a:srgbClr val="8B949E"/>
            </a:solidFill>
            <a:prstDash val="solid"/>
          </a:ln>
        </p:spPr>
      </p:sp>
      <p:sp>
        <p:nvSpPr>
          <p:cNvPr id="11" name="Shape 9"/>
          <p:cNvSpPr/>
          <p:nvPr/>
        </p:nvSpPr>
        <p:spPr>
          <a:xfrm>
            <a:off x="3730752" y="868680"/>
            <a:ext cx="1536192" cy="1371600"/>
          </a:xfrm>
          <a:prstGeom prst="roundRect">
            <a:avLst>
              <a:gd name="adj" fmla="val 5333"/>
            </a:avLst>
          </a:prstGeom>
          <a:solidFill>
            <a:srgbClr val="161B22"/>
          </a:solidFill>
          <a:ln w="19050">
            <a:solidFill>
              <a:srgbClr val="58A6FF"/>
            </a:solidFill>
            <a:prstDash val="solid"/>
          </a:ln>
        </p:spPr>
      </p:sp>
      <p:sp>
        <p:nvSpPr>
          <p:cNvPr id="12" name="Text 10"/>
          <p:cNvSpPr/>
          <p:nvPr/>
        </p:nvSpPr>
        <p:spPr>
          <a:xfrm>
            <a:off x="3730752" y="960120"/>
            <a:ext cx="1536192" cy="658368"/>
          </a:xfrm>
          <a:prstGeom prst="rect">
            <a:avLst/>
          </a:prstGeom>
          <a:noFill/>
          <a:ln/>
        </p:spPr>
        <p:txBody>
          <a:bodyPr wrap="square" rtlCol="0" anchor="ctr"/>
          <a:lstStyle/>
          <a:p>
            <a:pPr algn="ctr" indent="0" marL="0">
              <a:buNone/>
            </a:pPr>
            <a:r>
              <a:rPr lang="en-US" sz="1250" b="1" dirty="0">
                <a:solidFill>
                  <a:srgbClr val="58A6FF"/>
                </a:solidFill>
                <a:latin typeface="Calibri" pitchFamily="34" charset="0"/>
                <a:ea typeface="Calibri" pitchFamily="34" charset="-122"/>
                <a:cs typeface="Calibri" pitchFamily="34" charset="-120"/>
              </a:rPr>
              <a:t>Genkit Go</a:t>
            </a:r>
            <a:endParaRPr lang="en-US" sz="1250" dirty="0"/>
          </a:p>
          <a:p>
            <a:pPr algn="ctr" indent="0" marL="0">
              <a:buNone/>
            </a:pPr>
            <a:r>
              <a:rPr lang="en-US" sz="1250" b="1" dirty="0">
                <a:solidFill>
                  <a:srgbClr val="58A6FF"/>
                </a:solidFill>
                <a:latin typeface="Calibri" pitchFamily="34" charset="0"/>
                <a:ea typeface="Calibri" pitchFamily="34" charset="-122"/>
                <a:cs typeface="Calibri" pitchFamily="34" charset="-120"/>
              </a:rPr>
              <a:t>Agent</a:t>
            </a:r>
            <a:endParaRPr lang="en-US" sz="1250" dirty="0"/>
          </a:p>
        </p:txBody>
      </p:sp>
      <p:sp>
        <p:nvSpPr>
          <p:cNvPr id="13" name="Text 11"/>
          <p:cNvSpPr/>
          <p:nvPr/>
        </p:nvSpPr>
        <p:spPr>
          <a:xfrm>
            <a:off x="3730752" y="1645920"/>
            <a:ext cx="1536192" cy="457200"/>
          </a:xfrm>
          <a:prstGeom prst="rect">
            <a:avLst/>
          </a:prstGeom>
          <a:noFill/>
          <a:ln/>
        </p:spPr>
        <p:txBody>
          <a:bodyPr wrap="square" rtlCol="0" anchor="ctr"/>
          <a:lstStyle/>
          <a:p>
            <a:pPr algn="ctr" indent="0" marL="0">
              <a:buNone/>
            </a:pPr>
            <a:r>
              <a:rPr lang="en-US" sz="950" dirty="0">
                <a:solidFill>
                  <a:srgbClr val="8B949E"/>
                </a:solidFill>
                <a:latin typeface="Courier New" pitchFamily="34" charset="0"/>
                <a:ea typeface="Courier New" pitchFamily="34" charset="-122"/>
                <a:cs typeface="Courier New" pitchFamily="34" charset="-120"/>
              </a:rPr>
              <a:t>Gemini 2.5 Flash</a:t>
            </a:r>
            <a:endParaRPr lang="en-US" sz="950" dirty="0"/>
          </a:p>
        </p:txBody>
      </p:sp>
      <p:sp>
        <p:nvSpPr>
          <p:cNvPr id="14" name="Shape 12"/>
          <p:cNvSpPr/>
          <p:nvPr/>
        </p:nvSpPr>
        <p:spPr>
          <a:xfrm>
            <a:off x="5266944" y="1554480"/>
            <a:ext cx="201168" cy="0"/>
          </a:xfrm>
          <a:prstGeom prst="line">
            <a:avLst/>
          </a:prstGeom>
          <a:noFill/>
          <a:ln w="15240">
            <a:solidFill>
              <a:srgbClr val="8B949E"/>
            </a:solidFill>
            <a:prstDash val="solid"/>
          </a:ln>
        </p:spPr>
      </p:sp>
      <p:sp>
        <p:nvSpPr>
          <p:cNvPr id="15" name="Shape 13"/>
          <p:cNvSpPr/>
          <p:nvPr/>
        </p:nvSpPr>
        <p:spPr>
          <a:xfrm>
            <a:off x="5468112" y="868680"/>
            <a:ext cx="1536192" cy="1371600"/>
          </a:xfrm>
          <a:prstGeom prst="roundRect">
            <a:avLst>
              <a:gd name="adj" fmla="val 5333"/>
            </a:avLst>
          </a:prstGeom>
          <a:solidFill>
            <a:srgbClr val="161B22"/>
          </a:solidFill>
          <a:ln w="19050">
            <a:solidFill>
              <a:srgbClr val="39D353"/>
            </a:solidFill>
            <a:prstDash val="solid"/>
          </a:ln>
        </p:spPr>
      </p:sp>
      <p:sp>
        <p:nvSpPr>
          <p:cNvPr id="16" name="Text 14"/>
          <p:cNvSpPr/>
          <p:nvPr/>
        </p:nvSpPr>
        <p:spPr>
          <a:xfrm>
            <a:off x="5468112" y="960120"/>
            <a:ext cx="1536192" cy="658368"/>
          </a:xfrm>
          <a:prstGeom prst="rect">
            <a:avLst/>
          </a:prstGeom>
          <a:noFill/>
          <a:ln/>
        </p:spPr>
        <p:txBody>
          <a:bodyPr wrap="square" rtlCol="0" anchor="ctr"/>
          <a:lstStyle/>
          <a:p>
            <a:pPr algn="ctr" indent="0" marL="0">
              <a:buNone/>
            </a:pPr>
            <a:r>
              <a:rPr lang="en-US" sz="1250" b="1" dirty="0">
                <a:solidFill>
                  <a:srgbClr val="39D353"/>
                </a:solidFill>
                <a:latin typeface="Calibri" pitchFamily="34" charset="0"/>
                <a:ea typeface="Calibri" pitchFamily="34" charset="-122"/>
                <a:cs typeface="Calibri" pitchFamily="34" charset="-120"/>
              </a:rPr>
              <a:t>Safe State</a:t>
            </a:r>
            <a:endParaRPr lang="en-US" sz="1250" dirty="0"/>
          </a:p>
          <a:p>
            <a:pPr algn="ctr" indent="0" marL="0">
              <a:buNone/>
            </a:pPr>
            <a:r>
              <a:rPr lang="en-US" sz="1250" b="1" dirty="0">
                <a:solidFill>
                  <a:srgbClr val="39D353"/>
                </a:solidFill>
                <a:latin typeface="Calibri" pitchFamily="34" charset="0"/>
                <a:ea typeface="Calibri" pitchFamily="34" charset="-122"/>
                <a:cs typeface="Calibri" pitchFamily="34" charset="-120"/>
              </a:rPr>
              <a:t>Enforcer</a:t>
            </a:r>
            <a:endParaRPr lang="en-US" sz="1250" dirty="0"/>
          </a:p>
        </p:txBody>
      </p:sp>
      <p:sp>
        <p:nvSpPr>
          <p:cNvPr id="17" name="Text 15"/>
          <p:cNvSpPr/>
          <p:nvPr/>
        </p:nvSpPr>
        <p:spPr>
          <a:xfrm>
            <a:off x="5468112" y="1645920"/>
            <a:ext cx="1536192" cy="457200"/>
          </a:xfrm>
          <a:prstGeom prst="rect">
            <a:avLst/>
          </a:prstGeom>
          <a:noFill/>
          <a:ln/>
        </p:spPr>
        <p:txBody>
          <a:bodyPr wrap="square" rtlCol="0" anchor="ctr"/>
          <a:lstStyle/>
          <a:p>
            <a:pPr algn="ctr" indent="0" marL="0">
              <a:buNone/>
            </a:pPr>
            <a:r>
              <a:rPr lang="en-US" sz="950" dirty="0">
                <a:solidFill>
                  <a:srgbClr val="8B949E"/>
                </a:solidFill>
                <a:latin typeface="Courier New" pitchFamily="34" charset="0"/>
                <a:ea typeface="Courier New" pitchFamily="34" charset="-122"/>
                <a:cs typeface="Courier New" pitchFamily="34" charset="-120"/>
              </a:rPr>
              <a:t>Read-only guard</a:t>
            </a:r>
            <a:endParaRPr lang="en-US" sz="950" dirty="0"/>
          </a:p>
        </p:txBody>
      </p:sp>
      <p:sp>
        <p:nvSpPr>
          <p:cNvPr id="18" name="Shape 16"/>
          <p:cNvSpPr/>
          <p:nvPr/>
        </p:nvSpPr>
        <p:spPr>
          <a:xfrm>
            <a:off x="7004304" y="1554480"/>
            <a:ext cx="201168" cy="0"/>
          </a:xfrm>
          <a:prstGeom prst="line">
            <a:avLst/>
          </a:prstGeom>
          <a:noFill/>
          <a:ln w="15240">
            <a:solidFill>
              <a:srgbClr val="8B949E"/>
            </a:solidFill>
            <a:prstDash val="solid"/>
          </a:ln>
        </p:spPr>
      </p:sp>
      <p:sp>
        <p:nvSpPr>
          <p:cNvPr id="19" name="Shape 17"/>
          <p:cNvSpPr/>
          <p:nvPr/>
        </p:nvSpPr>
        <p:spPr>
          <a:xfrm>
            <a:off x="7205472" y="868680"/>
            <a:ext cx="1536192" cy="1371600"/>
          </a:xfrm>
          <a:prstGeom prst="roundRect">
            <a:avLst>
              <a:gd name="adj" fmla="val 5333"/>
            </a:avLst>
          </a:prstGeom>
          <a:solidFill>
            <a:srgbClr val="161B22"/>
          </a:solidFill>
          <a:ln w="19050">
            <a:solidFill>
              <a:srgbClr val="BC8CFF"/>
            </a:solidFill>
            <a:prstDash val="solid"/>
          </a:ln>
        </p:spPr>
      </p:sp>
      <p:sp>
        <p:nvSpPr>
          <p:cNvPr id="20" name="Text 18"/>
          <p:cNvSpPr/>
          <p:nvPr/>
        </p:nvSpPr>
        <p:spPr>
          <a:xfrm>
            <a:off x="7205472" y="960120"/>
            <a:ext cx="1536192" cy="658368"/>
          </a:xfrm>
          <a:prstGeom prst="rect">
            <a:avLst/>
          </a:prstGeom>
          <a:noFill/>
          <a:ln/>
        </p:spPr>
        <p:txBody>
          <a:bodyPr wrap="square" rtlCol="0" anchor="ctr"/>
          <a:lstStyle/>
          <a:p>
            <a:pPr algn="ctr" indent="0" marL="0">
              <a:buNone/>
            </a:pPr>
            <a:r>
              <a:rPr lang="en-US" sz="1250" b="1" dirty="0">
                <a:solidFill>
                  <a:srgbClr val="BC8CFF"/>
                </a:solidFill>
                <a:latin typeface="Calibri" pitchFamily="34" charset="0"/>
                <a:ea typeface="Calibri" pitchFamily="34" charset="-122"/>
                <a:cs typeface="Calibri" pitchFamily="34" charset="-120"/>
              </a:rPr>
              <a:t>Human</a:t>
            </a:r>
            <a:endParaRPr lang="en-US" sz="1250" dirty="0"/>
          </a:p>
          <a:p>
            <a:pPr algn="ctr" indent="0" marL="0">
              <a:buNone/>
            </a:pPr>
            <a:r>
              <a:rPr lang="en-US" sz="1250" b="1" dirty="0">
                <a:solidFill>
                  <a:srgbClr val="BC8CFF"/>
                </a:solidFill>
                <a:latin typeface="Calibri" pitchFamily="34" charset="0"/>
                <a:ea typeface="Calibri" pitchFamily="34" charset="-122"/>
                <a:cs typeface="Calibri" pitchFamily="34" charset="-120"/>
              </a:rPr>
              <a:t>Approval</a:t>
            </a:r>
            <a:endParaRPr lang="en-US" sz="1250" dirty="0"/>
          </a:p>
        </p:txBody>
      </p:sp>
      <p:sp>
        <p:nvSpPr>
          <p:cNvPr id="21" name="Text 19"/>
          <p:cNvSpPr/>
          <p:nvPr/>
        </p:nvSpPr>
        <p:spPr>
          <a:xfrm>
            <a:off x="7205472" y="1645920"/>
            <a:ext cx="1536192" cy="457200"/>
          </a:xfrm>
          <a:prstGeom prst="rect">
            <a:avLst/>
          </a:prstGeom>
          <a:noFill/>
          <a:ln/>
        </p:spPr>
        <p:txBody>
          <a:bodyPr wrap="square" rtlCol="0" anchor="ctr"/>
          <a:lstStyle/>
          <a:p>
            <a:pPr algn="ctr" indent="0" marL="0">
              <a:buNone/>
            </a:pPr>
            <a:r>
              <a:rPr lang="en-US" sz="950" dirty="0">
                <a:solidFill>
                  <a:srgbClr val="8B949E"/>
                </a:solidFill>
                <a:latin typeface="Courier New" pitchFamily="34" charset="0"/>
                <a:ea typeface="Courier New" pitchFamily="34" charset="-122"/>
                <a:cs typeface="Courier New" pitchFamily="34" charset="-120"/>
              </a:rPr>
              <a:t>Dashboard UI</a:t>
            </a:r>
            <a:endParaRPr lang="en-US" sz="950" dirty="0"/>
          </a:p>
        </p:txBody>
      </p:sp>
      <p:sp>
        <p:nvSpPr>
          <p:cNvPr id="22" name="Shape 20"/>
          <p:cNvSpPr/>
          <p:nvPr/>
        </p:nvSpPr>
        <p:spPr>
          <a:xfrm>
            <a:off x="3200400" y="2423160"/>
            <a:ext cx="2743200" cy="685800"/>
          </a:xfrm>
          <a:prstGeom prst="roundRect">
            <a:avLst>
              <a:gd name="adj" fmla="val 10667"/>
            </a:avLst>
          </a:prstGeom>
          <a:solidFill>
            <a:srgbClr val="161B22"/>
          </a:solidFill>
          <a:ln w="19050">
            <a:solidFill>
              <a:srgbClr val="39D353"/>
            </a:solidFill>
            <a:prstDash val="solid"/>
          </a:ln>
        </p:spPr>
      </p:sp>
      <p:sp>
        <p:nvSpPr>
          <p:cNvPr id="23" name="Text 21"/>
          <p:cNvSpPr/>
          <p:nvPr/>
        </p:nvSpPr>
        <p:spPr>
          <a:xfrm>
            <a:off x="3200400" y="2423160"/>
            <a:ext cx="2743200" cy="685800"/>
          </a:xfrm>
          <a:prstGeom prst="rect">
            <a:avLst/>
          </a:prstGeom>
          <a:noFill/>
          <a:ln/>
        </p:spPr>
        <p:txBody>
          <a:bodyPr wrap="square" rtlCol="0" anchor="ctr"/>
          <a:lstStyle/>
          <a:p>
            <a:pPr algn="ctr" indent="0" marL="0">
              <a:buNone/>
            </a:pPr>
            <a:r>
              <a:rPr lang="en-US" sz="1400" b="1" dirty="0">
                <a:solidFill>
                  <a:srgbClr val="39D353"/>
                </a:solidFill>
                <a:latin typeface="Calibri" pitchFamily="34" charset="0"/>
                <a:ea typeface="Calibri" pitchFamily="34" charset="-122"/>
                <a:cs typeface="Calibri" pitchFamily="34" charset="-120"/>
              </a:rPr>
              <a:t>✓  Incident Resolved</a:t>
            </a:r>
            <a:endParaRPr lang="en-US" sz="1400" dirty="0"/>
          </a:p>
        </p:txBody>
      </p:sp>
      <p:sp>
        <p:nvSpPr>
          <p:cNvPr id="24" name="Text 22"/>
          <p:cNvSpPr/>
          <p:nvPr/>
        </p:nvSpPr>
        <p:spPr>
          <a:xfrm>
            <a:off x="640080" y="3291840"/>
            <a:ext cx="7863840" cy="320040"/>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Three properties that make this production-safe:</a:t>
            </a:r>
            <a:endParaRPr lang="en-US" sz="1300" dirty="0"/>
          </a:p>
        </p:txBody>
      </p:sp>
      <p:sp>
        <p:nvSpPr>
          <p:cNvPr id="25" name="Shape 23"/>
          <p:cNvSpPr/>
          <p:nvPr/>
        </p:nvSpPr>
        <p:spPr>
          <a:xfrm>
            <a:off x="320040" y="3657600"/>
            <a:ext cx="2788920" cy="1234440"/>
          </a:xfrm>
          <a:prstGeom prst="roundRect">
            <a:avLst>
              <a:gd name="adj" fmla="val 5926"/>
            </a:avLst>
          </a:prstGeom>
          <a:solidFill>
            <a:srgbClr val="161B22"/>
          </a:solidFill>
          <a:ln w="6350">
            <a:solidFill>
              <a:srgbClr val="30363D"/>
            </a:solidFill>
            <a:prstDash val="solid"/>
          </a:ln>
        </p:spPr>
      </p:sp>
      <p:sp>
        <p:nvSpPr>
          <p:cNvPr id="26" name="Text 24"/>
          <p:cNvSpPr/>
          <p:nvPr/>
        </p:nvSpPr>
        <p:spPr>
          <a:xfrm>
            <a:off x="411480" y="3712464"/>
            <a:ext cx="2606040" cy="347472"/>
          </a:xfrm>
          <a:prstGeom prst="rect">
            <a:avLst/>
          </a:prstGeom>
          <a:noFill/>
          <a:ln/>
        </p:spPr>
        <p:txBody>
          <a:bodyPr wrap="square"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  Read-only diagnostics</a:t>
            </a:r>
            <a:endParaRPr lang="en-US" sz="1200" dirty="0"/>
          </a:p>
        </p:txBody>
      </p:sp>
      <p:sp>
        <p:nvSpPr>
          <p:cNvPr id="27" name="Text 25"/>
          <p:cNvSpPr/>
          <p:nvPr/>
        </p:nvSpPr>
        <p:spPr>
          <a:xfrm>
            <a:off x="411480" y="4078224"/>
            <a:ext cx="2606040" cy="713232"/>
          </a:xfrm>
          <a:prstGeom prst="rect">
            <a:avLst/>
          </a:prstGeom>
          <a:noFill/>
          <a:ln/>
        </p:spPr>
        <p:txBody>
          <a:bodyPr wrap="square" rtlCol="0" anchor="t"/>
          <a:lstStyle/>
          <a:p>
            <a:pPr indent="0" marL="0">
              <a:buNone/>
            </a:pPr>
            <a:r>
              <a:rPr lang="en-US" sz="1000" dirty="0">
                <a:solidFill>
                  <a:srgbClr val="8B949E"/>
                </a:solidFill>
                <a:latin typeface="Calibri" pitchFamily="34" charset="0"/>
                <a:ea typeface="Calibri" pitchFamily="34" charset="-122"/>
                <a:cs typeface="Calibri" pitchFamily="34" charset="-120"/>
              </a:rPr>
              <a:t>Gemini observes and analyzes only. No writes, deletes, or modifications — ever — without explicit human approval. Enforced in Go code, not prompts.</a:t>
            </a:r>
            <a:endParaRPr lang="en-US" sz="1000" dirty="0"/>
          </a:p>
        </p:txBody>
      </p:sp>
      <p:sp>
        <p:nvSpPr>
          <p:cNvPr id="28" name="Shape 26"/>
          <p:cNvSpPr/>
          <p:nvPr/>
        </p:nvSpPr>
        <p:spPr>
          <a:xfrm>
            <a:off x="3246120" y="3657600"/>
            <a:ext cx="2788920" cy="1234440"/>
          </a:xfrm>
          <a:prstGeom prst="roundRect">
            <a:avLst>
              <a:gd name="adj" fmla="val 5926"/>
            </a:avLst>
          </a:prstGeom>
          <a:solidFill>
            <a:srgbClr val="161B22"/>
          </a:solidFill>
          <a:ln w="6350">
            <a:solidFill>
              <a:srgbClr val="30363D"/>
            </a:solidFill>
            <a:prstDash val="solid"/>
          </a:ln>
        </p:spPr>
      </p:sp>
      <p:sp>
        <p:nvSpPr>
          <p:cNvPr id="29" name="Text 27"/>
          <p:cNvSpPr/>
          <p:nvPr/>
        </p:nvSpPr>
        <p:spPr>
          <a:xfrm>
            <a:off x="3337560" y="3712464"/>
            <a:ext cx="2606040" cy="347472"/>
          </a:xfrm>
          <a:prstGeom prst="rect">
            <a:avLst/>
          </a:prstGeom>
          <a:noFill/>
          <a:ln/>
        </p:spPr>
        <p:txBody>
          <a:bodyPr wrap="square"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  Multi-tenant isolation</a:t>
            </a:r>
            <a:endParaRPr lang="en-US" sz="1200" dirty="0"/>
          </a:p>
        </p:txBody>
      </p:sp>
      <p:sp>
        <p:nvSpPr>
          <p:cNvPr id="30" name="Text 28"/>
          <p:cNvSpPr/>
          <p:nvPr/>
        </p:nvSpPr>
        <p:spPr>
          <a:xfrm>
            <a:off x="3337560" y="4078224"/>
            <a:ext cx="2606040" cy="713232"/>
          </a:xfrm>
          <a:prstGeom prst="rect">
            <a:avLst/>
          </a:prstGeom>
          <a:noFill/>
          <a:ln/>
        </p:spPr>
        <p:txBody>
          <a:bodyPr wrap="square" rtlCol="0" anchor="t"/>
          <a:lstStyle/>
          <a:p>
            <a:pPr indent="0" marL="0">
              <a:buNone/>
            </a:pPr>
            <a:r>
              <a:rPr lang="en-US" sz="1000" dirty="0">
                <a:solidFill>
                  <a:srgbClr val="8B949E"/>
                </a:solidFill>
                <a:latin typeface="Calibri" pitchFamily="34" charset="0"/>
                <a:ea typeface="Calibri" pitchFamily="34" charset="-122"/>
                <a:cs typeface="Calibri" pitchFamily="34" charset="-120"/>
              </a:rPr>
              <a:t>Each runbook execution is scoped to a single tenant via TenantConstraints. Strict context boundaries prevent any cross-tenant data access.</a:t>
            </a:r>
            <a:endParaRPr lang="en-US" sz="1000" dirty="0"/>
          </a:p>
        </p:txBody>
      </p:sp>
      <p:sp>
        <p:nvSpPr>
          <p:cNvPr id="31" name="Shape 29"/>
          <p:cNvSpPr/>
          <p:nvPr/>
        </p:nvSpPr>
        <p:spPr>
          <a:xfrm>
            <a:off x="6172200" y="3657600"/>
            <a:ext cx="2788920" cy="1234440"/>
          </a:xfrm>
          <a:prstGeom prst="roundRect">
            <a:avLst>
              <a:gd name="adj" fmla="val 5926"/>
            </a:avLst>
          </a:prstGeom>
          <a:solidFill>
            <a:srgbClr val="161B22"/>
          </a:solidFill>
          <a:ln w="6350">
            <a:solidFill>
              <a:srgbClr val="30363D"/>
            </a:solidFill>
            <a:prstDash val="solid"/>
          </a:ln>
        </p:spPr>
      </p:sp>
      <p:sp>
        <p:nvSpPr>
          <p:cNvPr id="32" name="Text 30"/>
          <p:cNvSpPr/>
          <p:nvPr/>
        </p:nvSpPr>
        <p:spPr>
          <a:xfrm>
            <a:off x="6263640" y="3712464"/>
            <a:ext cx="2606040" cy="347472"/>
          </a:xfrm>
          <a:prstGeom prst="rect">
            <a:avLst/>
          </a:prstGeom>
          <a:noFill/>
          <a:ln/>
        </p:spPr>
        <p:txBody>
          <a:bodyPr wrap="square"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  Human-in-the-loop</a:t>
            </a:r>
            <a:endParaRPr lang="en-US" sz="1200" dirty="0"/>
          </a:p>
        </p:txBody>
      </p:sp>
      <p:sp>
        <p:nvSpPr>
          <p:cNvPr id="33" name="Text 31"/>
          <p:cNvSpPr/>
          <p:nvPr/>
        </p:nvSpPr>
        <p:spPr>
          <a:xfrm>
            <a:off x="6263640" y="4078224"/>
            <a:ext cx="2606040" cy="713232"/>
          </a:xfrm>
          <a:prstGeom prst="rect">
            <a:avLst/>
          </a:prstGeom>
          <a:noFill/>
          <a:ln/>
        </p:spPr>
        <p:txBody>
          <a:bodyPr wrap="square" rtlCol="0" anchor="t"/>
          <a:lstStyle/>
          <a:p>
            <a:pPr indent="0" marL="0">
              <a:buNone/>
            </a:pPr>
            <a:r>
              <a:rPr lang="en-US" sz="1000" dirty="0">
                <a:solidFill>
                  <a:srgbClr val="8B949E"/>
                </a:solidFill>
                <a:latin typeface="Calibri" pitchFamily="34" charset="0"/>
                <a:ea typeface="Calibri" pitchFamily="34" charset="-122"/>
                <a:cs typeface="Calibri" pitchFamily="34" charset="-120"/>
              </a:rPr>
              <a:t>Every write action generates an approval request. The Go channel blocks indefinitely. No action fires without a human click on the dashboard.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4572000" cy="502920"/>
          </a:xfrm>
          <a:prstGeom prst="rect">
            <a:avLst/>
          </a:prstGeom>
          <a:noFill/>
          <a:ln/>
        </p:spPr>
        <p:txBody>
          <a:bodyPr wrap="square" rtlCol="0" anchor="ctr"/>
          <a:lstStyle/>
          <a:p>
            <a:pPr indent="0" marL="0">
              <a:buNone/>
            </a:pPr>
            <a:r>
              <a:rPr lang="en-US" sz="2800" b="1" dirty="0">
                <a:solidFill>
                  <a:srgbClr val="F0F6FC"/>
                </a:solidFill>
                <a:latin typeface="Cambria" pitchFamily="34" charset="0"/>
                <a:ea typeface="Cambria" pitchFamily="34" charset="-122"/>
                <a:cs typeface="Cambria" pitchFamily="34" charset="-120"/>
              </a:rPr>
              <a:t>Runbook as Code</a:t>
            </a:r>
            <a:endParaRPr lang="en-US" sz="2800" dirty="0"/>
          </a:p>
        </p:txBody>
      </p:sp>
      <p:sp>
        <p:nvSpPr>
          <p:cNvPr id="3" name="Text 1"/>
          <p:cNvSpPr/>
          <p:nvPr/>
        </p:nvSpPr>
        <p:spPr>
          <a:xfrm>
            <a:off x="640080" y="704088"/>
            <a:ext cx="4572000" cy="292608"/>
          </a:xfrm>
          <a:prstGeom prst="rect">
            <a:avLst/>
          </a:prstGeom>
          <a:noFill/>
          <a:ln/>
        </p:spPr>
        <p:txBody>
          <a:bodyPr wrap="square" rtlCol="0" anchor="ctr"/>
          <a:lstStyle/>
          <a:p>
            <a:pPr indent="0" marL="0">
              <a:buNone/>
            </a:pPr>
            <a:r>
              <a:rPr lang="en-US" sz="1250" dirty="0">
                <a:solidFill>
                  <a:srgbClr val="8B949E"/>
                </a:solidFill>
                <a:latin typeface="Calibri" pitchFamily="34" charset="0"/>
                <a:ea typeface="Calibri" pitchFamily="34" charset="-122"/>
                <a:cs typeface="Calibri" pitchFamily="34" charset="-120"/>
              </a:rPr>
              <a:t>YAML becomes a typed Go struct — an executable state machine</a:t>
            </a:r>
            <a:endParaRPr lang="en-US" sz="1250" dirty="0"/>
          </a:p>
        </p:txBody>
      </p:sp>
      <p:sp>
        <p:nvSpPr>
          <p:cNvPr id="4" name="Shape 2"/>
          <p:cNvSpPr/>
          <p:nvPr/>
        </p:nvSpPr>
        <p:spPr>
          <a:xfrm>
            <a:off x="320040" y="1005840"/>
            <a:ext cx="4983480" cy="3794760"/>
          </a:xfrm>
          <a:prstGeom prst="roundRect">
            <a:avLst>
              <a:gd name="adj" fmla="val 1928"/>
            </a:avLst>
          </a:prstGeom>
          <a:solidFill>
            <a:srgbClr val="161B22"/>
          </a:solidFill>
          <a:ln w="6350">
            <a:solidFill>
              <a:srgbClr val="30363D"/>
            </a:solidFill>
            <a:prstDash val="solid"/>
          </a:ln>
        </p:spPr>
      </p:sp>
      <p:sp>
        <p:nvSpPr>
          <p:cNvPr id="5" name="Text 3"/>
          <p:cNvSpPr/>
          <p:nvPr/>
        </p:nvSpPr>
        <p:spPr>
          <a:xfrm>
            <a:off x="502920" y="1133856"/>
            <a:ext cx="466344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payment-gateway-failure.yaml</a:t>
            </a:r>
            <a:endParaRPr lang="en-US" sz="980" dirty="0"/>
          </a:p>
        </p:txBody>
      </p:sp>
      <p:sp>
        <p:nvSpPr>
          <p:cNvPr id="6" name="Text 4"/>
          <p:cNvSpPr/>
          <p:nvPr/>
        </p:nvSpPr>
        <p:spPr>
          <a:xfrm>
            <a:off x="502920" y="1282903"/>
            <a:ext cx="4663440" cy="160020"/>
          </a:xfrm>
          <a:prstGeom prst="rect">
            <a:avLst/>
          </a:prstGeom>
          <a:noFill/>
          <a:ln/>
        </p:spPr>
        <p:txBody>
          <a:bodyPr wrap="square" rtlCol="0" anchor="ctr"/>
          <a:lstStyle/>
          <a:p>
            <a:pPr indent="0" marL="0">
              <a:buNone/>
            </a:pPr>
            <a:r>
              <a:rPr lang="en-US" sz="980" dirty="0">
                <a:solidFill>
                  <a:srgbClr val="58A6FF"/>
                </a:solidFill>
                <a:latin typeface="Courier New" pitchFamily="34" charset="0"/>
                <a:ea typeface="Courier New" pitchFamily="34" charset="-122"/>
                <a:cs typeface="Courier New" pitchFamily="34" charset="-120"/>
              </a:rPr>
              <a:t>name: </a:t>
            </a:r>
            <a:pPr indent="0" marL="0">
              <a:buNone/>
            </a:pPr>
            <a:r>
              <a:rPr lang="en-US" sz="980" dirty="0">
                <a:solidFill>
                  <a:srgbClr val="EF9F27"/>
                </a:solidFill>
                <a:latin typeface="Courier New" pitchFamily="34" charset="0"/>
                <a:ea typeface="Courier New" pitchFamily="34" charset="-122"/>
                <a:cs typeface="Courier New" pitchFamily="34" charset="-120"/>
              </a:rPr>
              <a:t>Payment Gateway Failure</a:t>
            </a:r>
            <a:endParaRPr lang="en-US" sz="980" dirty="0"/>
          </a:p>
        </p:txBody>
      </p:sp>
      <p:sp>
        <p:nvSpPr>
          <p:cNvPr id="7" name="Text 5"/>
          <p:cNvSpPr/>
          <p:nvPr/>
        </p:nvSpPr>
        <p:spPr>
          <a:xfrm>
            <a:off x="502920" y="1431950"/>
            <a:ext cx="4663440" cy="160020"/>
          </a:xfrm>
          <a:prstGeom prst="rect">
            <a:avLst/>
          </a:prstGeom>
          <a:noFill/>
          <a:ln/>
        </p:spPr>
        <p:txBody>
          <a:bodyPr wrap="square" rtlCol="0" anchor="ctr"/>
          <a:lstStyle/>
          <a:p>
            <a:pPr indent="0" marL="0">
              <a:buNone/>
            </a:pPr>
            <a:r>
              <a:rPr lang="en-US" sz="980" dirty="0">
                <a:solidFill>
                  <a:srgbClr val="58A6FF"/>
                </a:solidFill>
                <a:latin typeface="Courier New" pitchFamily="34" charset="0"/>
                <a:ea typeface="Courier New" pitchFamily="34" charset="-122"/>
                <a:cs typeface="Courier New" pitchFamily="34" charset="-120"/>
              </a:rPr>
              <a:t>severity: </a:t>
            </a:r>
            <a:pPr indent="0" marL="0">
              <a:buNone/>
            </a:pPr>
            <a:r>
              <a:rPr lang="en-US" sz="980" dirty="0">
                <a:solidFill>
                  <a:srgbClr val="EF9F27"/>
                </a:solidFill>
                <a:latin typeface="Courier New" pitchFamily="34" charset="0"/>
                <a:ea typeface="Courier New" pitchFamily="34" charset="-122"/>
                <a:cs typeface="Courier New" pitchFamily="34" charset="-120"/>
              </a:rPr>
              <a:t>critical</a:t>
            </a:r>
            <a:endParaRPr lang="en-US" sz="980" dirty="0"/>
          </a:p>
        </p:txBody>
      </p:sp>
      <p:sp>
        <p:nvSpPr>
          <p:cNvPr id="8" name="Text 6"/>
          <p:cNvSpPr/>
          <p:nvPr/>
        </p:nvSpPr>
        <p:spPr>
          <a:xfrm>
            <a:off x="502920" y="1580998"/>
            <a:ext cx="4663440" cy="160020"/>
          </a:xfrm>
          <a:prstGeom prst="rect">
            <a:avLst/>
          </a:prstGeom>
          <a:noFill/>
          <a:ln/>
        </p:spPr>
        <p:txBody>
          <a:bodyPr wrap="square" rtlCol="0" anchor="ctr"/>
          <a:lstStyle/>
          <a:p>
            <a:pPr indent="0" marL="0">
              <a:buNone/>
            </a:pPr>
            <a:endParaRPr lang="en-US" sz="980" dirty="0"/>
          </a:p>
        </p:txBody>
      </p:sp>
      <p:sp>
        <p:nvSpPr>
          <p:cNvPr id="9" name="Text 7"/>
          <p:cNvSpPr/>
          <p:nvPr/>
        </p:nvSpPr>
        <p:spPr>
          <a:xfrm>
            <a:off x="502920" y="1730045"/>
            <a:ext cx="4663440" cy="160020"/>
          </a:xfrm>
          <a:prstGeom prst="rect">
            <a:avLst/>
          </a:prstGeom>
          <a:noFill/>
          <a:ln/>
        </p:spPr>
        <p:txBody>
          <a:bodyPr wrap="square" rtlCol="0" anchor="ctr"/>
          <a:lstStyle/>
          <a:p>
            <a:pPr indent="0" marL="0">
              <a:buNone/>
            </a:pPr>
            <a:r>
              <a:rPr lang="en-US" sz="980" dirty="0">
                <a:solidFill>
                  <a:srgbClr val="BC8CFF"/>
                </a:solidFill>
                <a:latin typeface="Courier New" pitchFamily="34" charset="0"/>
                <a:ea typeface="Courier New" pitchFamily="34" charset="-122"/>
                <a:cs typeface="Courier New" pitchFamily="34" charset="-120"/>
              </a:rPr>
              <a:t>safe_state:</a:t>
            </a:r>
            <a:endParaRPr lang="en-US" sz="980" dirty="0"/>
          </a:p>
        </p:txBody>
      </p:sp>
      <p:sp>
        <p:nvSpPr>
          <p:cNvPr id="10" name="Text 8"/>
          <p:cNvSpPr/>
          <p:nvPr/>
        </p:nvSpPr>
        <p:spPr>
          <a:xfrm>
            <a:off x="502920" y="1879092"/>
            <a:ext cx="466344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read_only:</a:t>
            </a:r>
            <a:endParaRPr lang="en-US" sz="980" dirty="0"/>
          </a:p>
        </p:txBody>
      </p:sp>
      <p:sp>
        <p:nvSpPr>
          <p:cNvPr id="11" name="Text 9"/>
          <p:cNvSpPr/>
          <p:nvPr/>
        </p:nvSpPr>
        <p:spPr>
          <a:xfrm>
            <a:off x="502920" y="2028139"/>
            <a:ext cx="4663440" cy="160020"/>
          </a:xfrm>
          <a:prstGeom prst="rect">
            <a:avLst/>
          </a:prstGeom>
          <a:noFill/>
          <a:ln/>
        </p:spPr>
        <p:txBody>
          <a:bodyPr wrap="square" rtlCol="0" anchor="ctr"/>
          <a:lstStyle/>
          <a:p>
            <a:pPr indent="0" marL="0">
              <a:buNone/>
            </a:pPr>
            <a:r>
              <a:rPr lang="en-US" sz="980" dirty="0">
                <a:solidFill>
                  <a:srgbClr val="E24B4A"/>
                </a:solidFill>
                <a:latin typeface="Courier New" pitchFamily="34" charset="0"/>
                <a:ea typeface="Courier New" pitchFamily="34" charset="-122"/>
                <a:cs typeface="Courier New" pitchFamily="34" charset="-120"/>
              </a:rPr>
              <a:t>    - delete_database        # NEVER</a:t>
            </a:r>
            <a:endParaRPr lang="en-US" sz="980" dirty="0"/>
          </a:p>
        </p:txBody>
      </p:sp>
      <p:sp>
        <p:nvSpPr>
          <p:cNvPr id="12" name="Text 10"/>
          <p:cNvSpPr/>
          <p:nvPr/>
        </p:nvSpPr>
        <p:spPr>
          <a:xfrm>
            <a:off x="502920" y="2177186"/>
            <a:ext cx="4663440" cy="160020"/>
          </a:xfrm>
          <a:prstGeom prst="rect">
            <a:avLst/>
          </a:prstGeom>
          <a:noFill/>
          <a:ln/>
        </p:spPr>
        <p:txBody>
          <a:bodyPr wrap="square" rtlCol="0" anchor="ctr"/>
          <a:lstStyle/>
          <a:p>
            <a:pPr indent="0" marL="0">
              <a:buNone/>
            </a:pPr>
            <a:r>
              <a:rPr lang="en-US" sz="980" dirty="0">
                <a:solidFill>
                  <a:srgbClr val="E24B4A"/>
                </a:solidFill>
                <a:latin typeface="Courier New" pitchFamily="34" charset="0"/>
                <a:ea typeface="Courier New" pitchFamily="34" charset="-122"/>
                <a:cs typeface="Courier New" pitchFamily="34" charset="-120"/>
              </a:rPr>
              <a:t>    - restart_k8s_cluster    # NEVER</a:t>
            </a:r>
            <a:endParaRPr lang="en-US" sz="980" dirty="0"/>
          </a:p>
        </p:txBody>
      </p:sp>
      <p:sp>
        <p:nvSpPr>
          <p:cNvPr id="13" name="Text 11"/>
          <p:cNvSpPr/>
          <p:nvPr/>
        </p:nvSpPr>
        <p:spPr>
          <a:xfrm>
            <a:off x="502920" y="2326234"/>
            <a:ext cx="4663440" cy="160020"/>
          </a:xfrm>
          <a:prstGeom prst="rect">
            <a:avLst/>
          </a:prstGeom>
          <a:noFill/>
          <a:ln/>
        </p:spPr>
        <p:txBody>
          <a:bodyPr wrap="square" rtlCol="0" anchor="ctr"/>
          <a:lstStyle/>
          <a:p>
            <a:pPr indent="0" marL="0">
              <a:buNone/>
            </a:pPr>
            <a:endParaRPr lang="en-US" sz="980" dirty="0"/>
          </a:p>
        </p:txBody>
      </p:sp>
      <p:sp>
        <p:nvSpPr>
          <p:cNvPr id="14" name="Text 12"/>
          <p:cNvSpPr/>
          <p:nvPr/>
        </p:nvSpPr>
        <p:spPr>
          <a:xfrm>
            <a:off x="502920" y="2475281"/>
            <a:ext cx="466344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requires_approval:</a:t>
            </a:r>
            <a:endParaRPr lang="en-US" sz="980" dirty="0"/>
          </a:p>
        </p:txBody>
      </p:sp>
      <p:sp>
        <p:nvSpPr>
          <p:cNvPr id="15" name="Text 13"/>
          <p:cNvSpPr/>
          <p:nvPr/>
        </p:nvSpPr>
        <p:spPr>
          <a:xfrm>
            <a:off x="502920" y="2624328"/>
            <a:ext cx="4663440" cy="160020"/>
          </a:xfrm>
          <a:prstGeom prst="rect">
            <a:avLst/>
          </a:prstGeom>
          <a:noFill/>
          <a:ln/>
        </p:spPr>
        <p:txBody>
          <a:bodyPr wrap="square" rtlCol="0" anchor="ctr"/>
          <a:lstStyle/>
          <a:p>
            <a:pPr indent="0" marL="0">
              <a:buNone/>
            </a:pPr>
            <a:r>
              <a:rPr lang="en-US" sz="980" dirty="0">
                <a:solidFill>
                  <a:srgbClr val="EF9F27"/>
                </a:solidFill>
                <a:latin typeface="Courier New" pitchFamily="34" charset="0"/>
                <a:ea typeface="Courier New" pitchFamily="34" charset="-122"/>
                <a:cs typeface="Courier New" pitchFamily="34" charset="-120"/>
              </a:rPr>
              <a:t>    - switch_payment_gateway # HITL</a:t>
            </a:r>
            <a:endParaRPr lang="en-US" sz="980" dirty="0"/>
          </a:p>
        </p:txBody>
      </p:sp>
      <p:sp>
        <p:nvSpPr>
          <p:cNvPr id="16" name="Text 14"/>
          <p:cNvSpPr/>
          <p:nvPr/>
        </p:nvSpPr>
        <p:spPr>
          <a:xfrm>
            <a:off x="502920" y="2773375"/>
            <a:ext cx="4663440" cy="160020"/>
          </a:xfrm>
          <a:prstGeom prst="rect">
            <a:avLst/>
          </a:prstGeom>
          <a:noFill/>
          <a:ln/>
        </p:spPr>
        <p:txBody>
          <a:bodyPr wrap="square" rtlCol="0" anchor="ctr"/>
          <a:lstStyle/>
          <a:p>
            <a:pPr indent="0" marL="0">
              <a:buNone/>
            </a:pPr>
            <a:r>
              <a:rPr lang="en-US" sz="980" dirty="0">
                <a:solidFill>
                  <a:srgbClr val="EF9F27"/>
                </a:solidFill>
                <a:latin typeface="Courier New" pitchFamily="34" charset="0"/>
                <a:ea typeface="Courier New" pitchFamily="34" charset="-122"/>
                <a:cs typeface="Courier New" pitchFamily="34" charset="-120"/>
              </a:rPr>
              <a:t>    - increase_pool_size     # HITL</a:t>
            </a:r>
            <a:endParaRPr lang="en-US" sz="980" dirty="0"/>
          </a:p>
        </p:txBody>
      </p:sp>
      <p:sp>
        <p:nvSpPr>
          <p:cNvPr id="17" name="Text 15"/>
          <p:cNvSpPr/>
          <p:nvPr/>
        </p:nvSpPr>
        <p:spPr>
          <a:xfrm>
            <a:off x="502920" y="2922422"/>
            <a:ext cx="4663440" cy="160020"/>
          </a:xfrm>
          <a:prstGeom prst="rect">
            <a:avLst/>
          </a:prstGeom>
          <a:noFill/>
          <a:ln/>
        </p:spPr>
        <p:txBody>
          <a:bodyPr wrap="square" rtlCol="0" anchor="ctr"/>
          <a:lstStyle/>
          <a:p>
            <a:pPr indent="0" marL="0">
              <a:buNone/>
            </a:pPr>
            <a:endParaRPr lang="en-US" sz="980" dirty="0"/>
          </a:p>
        </p:txBody>
      </p:sp>
      <p:sp>
        <p:nvSpPr>
          <p:cNvPr id="18" name="Text 16"/>
          <p:cNvSpPr/>
          <p:nvPr/>
        </p:nvSpPr>
        <p:spPr>
          <a:xfrm>
            <a:off x="502920" y="3071470"/>
            <a:ext cx="4663440" cy="160020"/>
          </a:xfrm>
          <a:prstGeom prst="rect">
            <a:avLst/>
          </a:prstGeom>
          <a:noFill/>
          <a:ln/>
        </p:spPr>
        <p:txBody>
          <a:bodyPr wrap="square" rtlCol="0" anchor="ctr"/>
          <a:lstStyle/>
          <a:p>
            <a:pPr indent="0" marL="0">
              <a:buNone/>
            </a:pPr>
            <a:r>
              <a:rPr lang="en-US" sz="980" dirty="0">
                <a:solidFill>
                  <a:srgbClr val="BC8CFF"/>
                </a:solidFill>
                <a:latin typeface="Courier New" pitchFamily="34" charset="0"/>
                <a:ea typeface="Courier New" pitchFamily="34" charset="-122"/>
                <a:cs typeface="Courier New" pitchFamily="34" charset="-120"/>
              </a:rPr>
              <a:t>diagnostic_steps:</a:t>
            </a:r>
            <a:endParaRPr lang="en-US" sz="980" dirty="0"/>
          </a:p>
        </p:txBody>
      </p:sp>
      <p:sp>
        <p:nvSpPr>
          <p:cNvPr id="19" name="Text 17"/>
          <p:cNvSpPr/>
          <p:nvPr/>
        </p:nvSpPr>
        <p:spPr>
          <a:xfrm>
            <a:off x="502920" y="3220517"/>
            <a:ext cx="4663440" cy="160020"/>
          </a:xfrm>
          <a:prstGeom prst="rect">
            <a:avLst/>
          </a:prstGeom>
          <a:noFill/>
          <a:ln/>
        </p:spPr>
        <p:txBody>
          <a:bodyPr wrap="square" rtlCol="0" anchor="ctr"/>
          <a:lstStyle/>
          <a:p>
            <a:pPr indent="0" marL="0">
              <a:buNone/>
            </a:pPr>
            <a:r>
              <a:rPr lang="en-US" sz="980" dirty="0">
                <a:solidFill>
                  <a:srgbClr val="39D353"/>
                </a:solidFill>
                <a:latin typeface="Courier New" pitchFamily="34" charset="0"/>
                <a:ea typeface="Courier New" pitchFamily="34" charset="-122"/>
                <a:cs typeface="Courier New" pitchFamily="34" charset="-120"/>
              </a:rPr>
              <a:t>  - step: 1</a:t>
            </a:r>
            <a:endParaRPr lang="en-US" sz="980" dirty="0"/>
          </a:p>
        </p:txBody>
      </p:sp>
      <p:sp>
        <p:nvSpPr>
          <p:cNvPr id="20" name="Text 18"/>
          <p:cNvSpPr/>
          <p:nvPr/>
        </p:nvSpPr>
        <p:spPr>
          <a:xfrm>
            <a:off x="502920" y="3369564"/>
            <a:ext cx="466344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command: curl -sf api.stripe.com/v1/health</a:t>
            </a:r>
            <a:endParaRPr lang="en-US" sz="980" dirty="0"/>
          </a:p>
        </p:txBody>
      </p:sp>
      <p:sp>
        <p:nvSpPr>
          <p:cNvPr id="21" name="Text 19"/>
          <p:cNvSpPr/>
          <p:nvPr/>
        </p:nvSpPr>
        <p:spPr>
          <a:xfrm>
            <a:off x="502920" y="3518611"/>
            <a:ext cx="466344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read_only: true   # enforced in Go</a:t>
            </a:r>
            <a:endParaRPr lang="en-US" sz="980" dirty="0"/>
          </a:p>
        </p:txBody>
      </p:sp>
      <p:sp>
        <p:nvSpPr>
          <p:cNvPr id="22" name="Text 20"/>
          <p:cNvSpPr/>
          <p:nvPr/>
        </p:nvSpPr>
        <p:spPr>
          <a:xfrm>
            <a:off x="502920" y="3667658"/>
            <a:ext cx="4663440" cy="160020"/>
          </a:xfrm>
          <a:prstGeom prst="rect">
            <a:avLst/>
          </a:prstGeom>
          <a:noFill/>
          <a:ln/>
        </p:spPr>
        <p:txBody>
          <a:bodyPr wrap="square" rtlCol="0" anchor="ctr"/>
          <a:lstStyle/>
          <a:p>
            <a:pPr indent="0" marL="0">
              <a:buNone/>
            </a:pPr>
            <a:r>
              <a:rPr lang="en-US" sz="980" dirty="0">
                <a:solidFill>
                  <a:srgbClr val="39D353"/>
                </a:solidFill>
                <a:latin typeface="Courier New" pitchFamily="34" charset="0"/>
                <a:ea typeface="Courier New" pitchFamily="34" charset="-122"/>
                <a:cs typeface="Courier New" pitchFamily="34" charset="-120"/>
              </a:rPr>
              <a:t>  - step: 2</a:t>
            </a:r>
            <a:endParaRPr lang="en-US" sz="980" dirty="0"/>
          </a:p>
        </p:txBody>
      </p:sp>
      <p:sp>
        <p:nvSpPr>
          <p:cNvPr id="23" name="Text 21"/>
          <p:cNvSpPr/>
          <p:nvPr/>
        </p:nvSpPr>
        <p:spPr>
          <a:xfrm>
            <a:off x="502920" y="3816706"/>
            <a:ext cx="466344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command: kubectl logs payment-service --tail=100</a:t>
            </a:r>
            <a:endParaRPr lang="en-US" sz="980" dirty="0"/>
          </a:p>
        </p:txBody>
      </p:sp>
      <p:sp>
        <p:nvSpPr>
          <p:cNvPr id="24" name="Text 22"/>
          <p:cNvSpPr/>
          <p:nvPr/>
        </p:nvSpPr>
        <p:spPr>
          <a:xfrm>
            <a:off x="502920" y="3965753"/>
            <a:ext cx="4663440" cy="160020"/>
          </a:xfrm>
          <a:prstGeom prst="rect">
            <a:avLst/>
          </a:prstGeom>
          <a:noFill/>
          <a:ln/>
        </p:spPr>
        <p:txBody>
          <a:bodyPr wrap="square" rtlCol="0" anchor="ctr"/>
          <a:lstStyle/>
          <a:p>
            <a:pPr indent="0" marL="0">
              <a:buNone/>
            </a:pPr>
            <a:endParaRPr lang="en-US" sz="980" dirty="0"/>
          </a:p>
        </p:txBody>
      </p:sp>
      <p:sp>
        <p:nvSpPr>
          <p:cNvPr id="25" name="Text 23"/>
          <p:cNvSpPr/>
          <p:nvPr/>
        </p:nvSpPr>
        <p:spPr>
          <a:xfrm>
            <a:off x="502920" y="4114800"/>
            <a:ext cx="4663440" cy="160020"/>
          </a:xfrm>
          <a:prstGeom prst="rect">
            <a:avLst/>
          </a:prstGeom>
          <a:noFill/>
          <a:ln/>
        </p:spPr>
        <p:txBody>
          <a:bodyPr wrap="square" rtlCol="0" anchor="ctr"/>
          <a:lstStyle/>
          <a:p>
            <a:pPr indent="0" marL="0">
              <a:buNone/>
            </a:pPr>
            <a:r>
              <a:rPr lang="en-US" sz="980" dirty="0">
                <a:solidFill>
                  <a:srgbClr val="BC8CFF"/>
                </a:solidFill>
                <a:latin typeface="Courier New" pitchFamily="34" charset="0"/>
                <a:ea typeface="Courier New" pitchFamily="34" charset="-122"/>
                <a:cs typeface="Courier New" pitchFamily="34" charset="-120"/>
              </a:rPr>
              <a:t>recovery_actions:</a:t>
            </a:r>
            <a:endParaRPr lang="en-US" sz="980" dirty="0"/>
          </a:p>
        </p:txBody>
      </p:sp>
      <p:sp>
        <p:nvSpPr>
          <p:cNvPr id="26" name="Text 24"/>
          <p:cNvSpPr/>
          <p:nvPr/>
        </p:nvSpPr>
        <p:spPr>
          <a:xfrm>
            <a:off x="502920" y="4263847"/>
            <a:ext cx="4663440" cy="160020"/>
          </a:xfrm>
          <a:prstGeom prst="rect">
            <a:avLst/>
          </a:prstGeom>
          <a:noFill/>
          <a:ln/>
        </p:spPr>
        <p:txBody>
          <a:bodyPr wrap="square" rtlCol="0" anchor="ctr"/>
          <a:lstStyle/>
          <a:p>
            <a:pPr indent="0" marL="0">
              <a:buNone/>
            </a:pPr>
            <a:r>
              <a:rPr lang="en-US" sz="980" dirty="0">
                <a:solidFill>
                  <a:srgbClr val="39D353"/>
                </a:solidFill>
                <a:latin typeface="Courier New" pitchFamily="34" charset="0"/>
                <a:ea typeface="Courier New" pitchFamily="34" charset="-122"/>
                <a:cs typeface="Courier New" pitchFamily="34" charset="-120"/>
              </a:rPr>
              <a:t>  - condition: stripe_down</a:t>
            </a:r>
            <a:endParaRPr lang="en-US" sz="980" dirty="0"/>
          </a:p>
        </p:txBody>
      </p:sp>
      <p:sp>
        <p:nvSpPr>
          <p:cNvPr id="27" name="Text 25"/>
          <p:cNvSpPr/>
          <p:nvPr/>
        </p:nvSpPr>
        <p:spPr>
          <a:xfrm>
            <a:off x="502920" y="4412894"/>
            <a:ext cx="4663440" cy="160020"/>
          </a:xfrm>
          <a:prstGeom prst="rect">
            <a:avLst/>
          </a:prstGeom>
          <a:noFill/>
          <a:ln/>
        </p:spPr>
        <p:txBody>
          <a:bodyPr wrap="square" rtlCol="0" anchor="ctr"/>
          <a:lstStyle/>
          <a:p>
            <a:pPr indent="0" marL="0">
              <a:buNone/>
            </a:pPr>
            <a:r>
              <a:rPr lang="en-US" sz="980" dirty="0">
                <a:solidFill>
                  <a:srgbClr val="EF9F27"/>
                </a:solidFill>
                <a:latin typeface="Courier New" pitchFamily="34" charset="0"/>
                <a:ea typeface="Courier New" pitchFamily="34" charset="-122"/>
                <a:cs typeface="Courier New" pitchFamily="34" charset="-120"/>
              </a:rPr>
              <a:t>    requires_approval: true</a:t>
            </a:r>
            <a:endParaRPr lang="en-US" sz="980" dirty="0"/>
          </a:p>
        </p:txBody>
      </p:sp>
      <p:sp>
        <p:nvSpPr>
          <p:cNvPr id="28" name="Text 26"/>
          <p:cNvSpPr/>
          <p:nvPr/>
        </p:nvSpPr>
        <p:spPr>
          <a:xfrm>
            <a:off x="502920" y="4561942"/>
            <a:ext cx="466344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rollback_command: |  # auto on fail</a:t>
            </a:r>
            <a:endParaRPr lang="en-US" sz="980" dirty="0"/>
          </a:p>
        </p:txBody>
      </p:sp>
      <p:sp>
        <p:nvSpPr>
          <p:cNvPr id="29" name="Shape 27"/>
          <p:cNvSpPr/>
          <p:nvPr/>
        </p:nvSpPr>
        <p:spPr>
          <a:xfrm>
            <a:off x="5303520" y="1965960"/>
            <a:ext cx="320040" cy="0"/>
          </a:xfrm>
          <a:prstGeom prst="line">
            <a:avLst/>
          </a:prstGeom>
          <a:noFill/>
          <a:ln w="6350">
            <a:solidFill>
              <a:srgbClr val="30363D"/>
            </a:solidFill>
            <a:prstDash val="dash"/>
          </a:ln>
        </p:spPr>
      </p:sp>
      <p:sp>
        <p:nvSpPr>
          <p:cNvPr id="30" name="Text 28"/>
          <p:cNvSpPr/>
          <p:nvPr/>
        </p:nvSpPr>
        <p:spPr>
          <a:xfrm>
            <a:off x="5623560" y="1874520"/>
            <a:ext cx="3200400" cy="457200"/>
          </a:xfrm>
          <a:prstGeom prst="rect">
            <a:avLst/>
          </a:prstGeom>
          <a:noFill/>
          <a:ln/>
        </p:spPr>
        <p:txBody>
          <a:bodyPr wrap="square" rtlCol="0" anchor="t"/>
          <a:lstStyle/>
          <a:p>
            <a:pPr indent="0" marL="0">
              <a:buNone/>
            </a:pPr>
            <a:r>
              <a:rPr lang="en-US" sz="1050" dirty="0">
                <a:solidFill>
                  <a:srgbClr val="E24B4A"/>
                </a:solidFill>
                <a:latin typeface="Calibri" pitchFamily="34" charset="0"/>
                <a:ea typeface="Calibri" pitchFamily="34" charset="-122"/>
                <a:cs typeface="Calibri" pitchFamily="34" charset="-120"/>
              </a:rPr>
              <a:t>ALWAYS forbidden.</a:t>
            </a:r>
            <a:endParaRPr lang="en-US" sz="1050" dirty="0"/>
          </a:p>
          <a:p>
            <a:pPr indent="0" marL="0">
              <a:buNone/>
            </a:pPr>
            <a:r>
              <a:rPr lang="en-US" sz="1050" dirty="0">
                <a:solidFill>
                  <a:srgbClr val="E24B4A"/>
                </a:solidFill>
                <a:latin typeface="Calibri" pitchFamily="34" charset="0"/>
                <a:ea typeface="Calibri" pitchFamily="34" charset="-122"/>
                <a:cs typeface="Calibri" pitchFamily="34" charset="-120"/>
              </a:rPr>
              <a:t>No approval can override.</a:t>
            </a:r>
            <a:endParaRPr lang="en-US" sz="1050" dirty="0"/>
          </a:p>
        </p:txBody>
      </p:sp>
      <p:sp>
        <p:nvSpPr>
          <p:cNvPr id="31" name="Shape 29"/>
          <p:cNvSpPr/>
          <p:nvPr/>
        </p:nvSpPr>
        <p:spPr>
          <a:xfrm>
            <a:off x="5303520" y="2880360"/>
            <a:ext cx="320040" cy="0"/>
          </a:xfrm>
          <a:prstGeom prst="line">
            <a:avLst/>
          </a:prstGeom>
          <a:noFill/>
          <a:ln w="6350">
            <a:solidFill>
              <a:srgbClr val="30363D"/>
            </a:solidFill>
            <a:prstDash val="dash"/>
          </a:ln>
        </p:spPr>
      </p:sp>
      <p:sp>
        <p:nvSpPr>
          <p:cNvPr id="32" name="Text 30"/>
          <p:cNvSpPr/>
          <p:nvPr/>
        </p:nvSpPr>
        <p:spPr>
          <a:xfrm>
            <a:off x="5623560" y="2788920"/>
            <a:ext cx="3200400" cy="457200"/>
          </a:xfrm>
          <a:prstGeom prst="rect">
            <a:avLst/>
          </a:prstGeom>
          <a:noFill/>
          <a:ln/>
        </p:spPr>
        <p:txBody>
          <a:bodyPr wrap="square" rtlCol="0" anchor="t"/>
          <a:lstStyle/>
          <a:p>
            <a:pPr indent="0" marL="0">
              <a:buNone/>
            </a:pPr>
            <a:r>
              <a:rPr lang="en-US" sz="1050" dirty="0">
                <a:solidFill>
                  <a:srgbClr val="EF9F27"/>
                </a:solidFill>
                <a:latin typeface="Calibri" pitchFamily="34" charset="0"/>
                <a:ea typeface="Calibri" pitchFamily="34" charset="-122"/>
                <a:cs typeface="Calibri" pitchFamily="34" charset="-120"/>
              </a:rPr>
              <a:t>Blocks execution.</a:t>
            </a:r>
            <a:endParaRPr lang="en-US" sz="1050" dirty="0"/>
          </a:p>
          <a:p>
            <a:pPr indent="0" marL="0">
              <a:buNone/>
            </a:pPr>
            <a:r>
              <a:rPr lang="en-US" sz="1050" dirty="0">
                <a:solidFill>
                  <a:srgbClr val="EF9F27"/>
                </a:solidFill>
                <a:latin typeface="Calibri" pitchFamily="34" charset="0"/>
                <a:ea typeface="Calibri" pitchFamily="34" charset="-122"/>
                <a:cs typeface="Calibri" pitchFamily="34" charset="-120"/>
              </a:rPr>
              <a:t>Waits for dashboard click.</a:t>
            </a:r>
            <a:endParaRPr lang="en-US" sz="1050" dirty="0"/>
          </a:p>
        </p:txBody>
      </p:sp>
      <p:sp>
        <p:nvSpPr>
          <p:cNvPr id="33" name="Shape 31"/>
          <p:cNvSpPr/>
          <p:nvPr/>
        </p:nvSpPr>
        <p:spPr>
          <a:xfrm>
            <a:off x="5303520" y="3520440"/>
            <a:ext cx="320040" cy="0"/>
          </a:xfrm>
          <a:prstGeom prst="line">
            <a:avLst/>
          </a:prstGeom>
          <a:noFill/>
          <a:ln w="6350">
            <a:solidFill>
              <a:srgbClr val="30363D"/>
            </a:solidFill>
            <a:prstDash val="dash"/>
          </a:ln>
        </p:spPr>
      </p:sp>
      <p:sp>
        <p:nvSpPr>
          <p:cNvPr id="34" name="Text 32"/>
          <p:cNvSpPr/>
          <p:nvPr/>
        </p:nvSpPr>
        <p:spPr>
          <a:xfrm>
            <a:off x="5623560" y="3429000"/>
            <a:ext cx="3200400" cy="457200"/>
          </a:xfrm>
          <a:prstGeom prst="rect">
            <a:avLst/>
          </a:prstGeom>
          <a:noFill/>
          <a:ln/>
        </p:spPr>
        <p:txBody>
          <a:bodyPr wrap="square" rtlCol="0" anchor="t"/>
          <a:lstStyle/>
          <a:p>
            <a:pPr indent="0" marL="0">
              <a:buNone/>
            </a:pPr>
            <a:r>
              <a:rPr lang="en-US" sz="1050" dirty="0">
                <a:solidFill>
                  <a:srgbClr val="39D353"/>
                </a:solidFill>
                <a:latin typeface="Calibri" pitchFamily="34" charset="0"/>
                <a:ea typeface="Calibri" pitchFamily="34" charset="-122"/>
                <a:cs typeface="Calibri" pitchFamily="34" charset="-120"/>
              </a:rPr>
              <a:t>Step 1 is always</a:t>
            </a:r>
            <a:endParaRPr lang="en-US" sz="1050" dirty="0"/>
          </a:p>
          <a:p>
            <a:pPr indent="0" marL="0">
              <a:buNone/>
            </a:pPr>
            <a:r>
              <a:rPr lang="en-US" sz="1050" dirty="0">
                <a:solidFill>
                  <a:srgbClr val="39D353"/>
                </a:solidFill>
                <a:latin typeface="Calibri" pitchFamily="34" charset="0"/>
                <a:ea typeface="Calibri" pitchFamily="34" charset="-122"/>
                <a:cs typeface="Calibri" pitchFamily="34" charset="-120"/>
              </a:rPr>
              <a:t>read-only. No exceptions.</a:t>
            </a:r>
            <a:endParaRPr lang="en-US" sz="1050" dirty="0"/>
          </a:p>
        </p:txBody>
      </p:sp>
      <p:sp>
        <p:nvSpPr>
          <p:cNvPr id="35" name="Shape 33"/>
          <p:cNvSpPr/>
          <p:nvPr/>
        </p:nvSpPr>
        <p:spPr>
          <a:xfrm>
            <a:off x="5303520" y="4297680"/>
            <a:ext cx="320040" cy="0"/>
          </a:xfrm>
          <a:prstGeom prst="line">
            <a:avLst/>
          </a:prstGeom>
          <a:noFill/>
          <a:ln w="6350">
            <a:solidFill>
              <a:srgbClr val="30363D"/>
            </a:solidFill>
            <a:prstDash val="dash"/>
          </a:ln>
        </p:spPr>
      </p:sp>
      <p:sp>
        <p:nvSpPr>
          <p:cNvPr id="36" name="Text 34"/>
          <p:cNvSpPr/>
          <p:nvPr/>
        </p:nvSpPr>
        <p:spPr>
          <a:xfrm>
            <a:off x="5623560" y="4206240"/>
            <a:ext cx="3200400" cy="457200"/>
          </a:xfrm>
          <a:prstGeom prst="rect">
            <a:avLst/>
          </a:prstGeom>
          <a:noFill/>
          <a:ln/>
        </p:spPr>
        <p:txBody>
          <a:bodyPr wrap="square" rtlCol="0" anchor="t"/>
          <a:lstStyle/>
          <a:p>
            <a:pPr indent="0" marL="0">
              <a:buNone/>
            </a:pPr>
            <a:r>
              <a:rPr lang="en-US" sz="1050" dirty="0">
                <a:solidFill>
                  <a:srgbClr val="58A6FF"/>
                </a:solidFill>
                <a:latin typeface="Calibri" pitchFamily="34" charset="0"/>
                <a:ea typeface="Calibri" pitchFamily="34" charset="-122"/>
                <a:cs typeface="Calibri" pitchFamily="34" charset="-120"/>
              </a:rPr>
              <a:t>Auto-rollback on</a:t>
            </a:r>
            <a:endParaRPr lang="en-US" sz="1050" dirty="0"/>
          </a:p>
          <a:p>
            <a:pPr indent="0" marL="0">
              <a:buNone/>
            </a:pPr>
            <a:r>
              <a:rPr lang="en-US" sz="1050" dirty="0">
                <a:solidFill>
                  <a:srgbClr val="58A6FF"/>
                </a:solidFill>
                <a:latin typeface="Calibri" pitchFamily="34" charset="0"/>
                <a:ea typeface="Calibri" pitchFamily="34" charset="-122"/>
                <a:cs typeface="Calibri" pitchFamily="34" charset="-120"/>
              </a:rPr>
              <a:t>health check failure.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7863840" cy="502920"/>
          </a:xfrm>
          <a:prstGeom prst="rect">
            <a:avLst/>
          </a:prstGeom>
          <a:noFill/>
          <a:ln/>
        </p:spPr>
        <p:txBody>
          <a:bodyPr wrap="square" rtlCol="0" anchor="ctr"/>
          <a:lstStyle/>
          <a:p>
            <a:pPr indent="0" marL="0">
              <a:buNone/>
            </a:pPr>
            <a:r>
              <a:rPr lang="en-US" sz="2600" b="1" dirty="0">
                <a:solidFill>
                  <a:srgbClr val="F0F6FC"/>
                </a:solidFill>
                <a:latin typeface="Cambria" pitchFamily="34" charset="0"/>
                <a:ea typeface="Cambria" pitchFamily="34" charset="-122"/>
                <a:cs typeface="Cambria" pitchFamily="34" charset="-120"/>
              </a:rPr>
              <a:t>Genkit Go: Type-Safe AI Flows</a:t>
            </a:r>
            <a:endParaRPr lang="en-US" sz="2600" dirty="0"/>
          </a:p>
        </p:txBody>
      </p:sp>
      <p:sp>
        <p:nvSpPr>
          <p:cNvPr id="3" name="Shape 1"/>
          <p:cNvSpPr/>
          <p:nvPr/>
        </p:nvSpPr>
        <p:spPr>
          <a:xfrm>
            <a:off x="320040" y="804672"/>
            <a:ext cx="5074920" cy="3977640"/>
          </a:xfrm>
          <a:prstGeom prst="roundRect">
            <a:avLst>
              <a:gd name="adj" fmla="val 1839"/>
            </a:avLst>
          </a:prstGeom>
          <a:solidFill>
            <a:srgbClr val="161B22"/>
          </a:solidFill>
          <a:ln w="6350">
            <a:solidFill>
              <a:srgbClr val="30363D"/>
            </a:solidFill>
            <a:prstDash val="solid"/>
          </a:ln>
        </p:spPr>
      </p:sp>
      <p:sp>
        <p:nvSpPr>
          <p:cNvPr id="4" name="Text 2"/>
          <p:cNvSpPr/>
          <p:nvPr/>
        </p:nvSpPr>
        <p:spPr>
          <a:xfrm>
            <a:off x="502920" y="932688"/>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internal/agent/agent.go</a:t>
            </a:r>
            <a:endParaRPr lang="en-US" sz="980" dirty="0"/>
          </a:p>
        </p:txBody>
      </p:sp>
      <p:sp>
        <p:nvSpPr>
          <p:cNvPr id="5" name="Text 3"/>
          <p:cNvSpPr/>
          <p:nvPr/>
        </p:nvSpPr>
        <p:spPr>
          <a:xfrm>
            <a:off x="502920" y="1083564"/>
            <a:ext cx="4754880" cy="160020"/>
          </a:xfrm>
          <a:prstGeom prst="rect">
            <a:avLst/>
          </a:prstGeom>
          <a:noFill/>
          <a:ln/>
        </p:spPr>
        <p:txBody>
          <a:bodyPr wrap="square" rtlCol="0" anchor="ctr"/>
          <a:lstStyle/>
          <a:p>
            <a:pPr indent="0" marL="0">
              <a:buNone/>
            </a:pPr>
            <a:endParaRPr lang="en-US" sz="980" dirty="0"/>
          </a:p>
        </p:txBody>
      </p:sp>
      <p:sp>
        <p:nvSpPr>
          <p:cNvPr id="6" name="Text 4"/>
          <p:cNvSpPr/>
          <p:nvPr/>
        </p:nvSpPr>
        <p:spPr>
          <a:xfrm>
            <a:off x="502920" y="1234440"/>
            <a:ext cx="4754880" cy="160020"/>
          </a:xfrm>
          <a:prstGeom prst="rect">
            <a:avLst/>
          </a:prstGeom>
          <a:noFill/>
          <a:ln/>
        </p:spPr>
        <p:txBody>
          <a:bodyPr wrap="square" rtlCol="0" anchor="ctr"/>
          <a:lstStyle/>
          <a:p>
            <a:pPr indent="0" marL="0">
              <a:buNone/>
            </a:pPr>
            <a:r>
              <a:rPr lang="en-US" sz="980" dirty="0">
                <a:solidFill>
                  <a:srgbClr val="BC8CFF"/>
                </a:solidFill>
                <a:latin typeface="Courier New" pitchFamily="34" charset="0"/>
                <a:ea typeface="Courier New" pitchFamily="34" charset="-122"/>
                <a:cs typeface="Courier New" pitchFamily="34" charset="-120"/>
              </a:rPr>
              <a:t>type Hypothesis struct {</a:t>
            </a:r>
            <a:endParaRPr lang="en-US" sz="980" dirty="0"/>
          </a:p>
        </p:txBody>
      </p:sp>
      <p:sp>
        <p:nvSpPr>
          <p:cNvPr id="7" name="Text 5"/>
          <p:cNvSpPr/>
          <p:nvPr/>
        </p:nvSpPr>
        <p:spPr>
          <a:xfrm>
            <a:off x="502920" y="1385316"/>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RootCause  string  `json:"root_cause"`</a:t>
            </a:r>
            <a:endParaRPr lang="en-US" sz="980" dirty="0"/>
          </a:p>
        </p:txBody>
      </p:sp>
      <p:sp>
        <p:nvSpPr>
          <p:cNvPr id="8" name="Text 6"/>
          <p:cNvSpPr/>
          <p:nvPr/>
        </p:nvSpPr>
        <p:spPr>
          <a:xfrm>
            <a:off x="502920" y="1536192"/>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Confidence float64 `json:"confidence"`</a:t>
            </a:r>
            <a:endParaRPr lang="en-US" sz="980" dirty="0"/>
          </a:p>
        </p:txBody>
      </p:sp>
      <p:sp>
        <p:nvSpPr>
          <p:cNvPr id="9" name="Text 7"/>
          <p:cNvSpPr/>
          <p:nvPr/>
        </p:nvSpPr>
        <p:spPr>
          <a:xfrm>
            <a:off x="502920" y="1687068"/>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Action     string  `json:"action"`</a:t>
            </a:r>
            <a:endParaRPr lang="en-US" sz="980" dirty="0"/>
          </a:p>
        </p:txBody>
      </p:sp>
      <p:sp>
        <p:nvSpPr>
          <p:cNvPr id="10" name="Text 8"/>
          <p:cNvSpPr/>
          <p:nvPr/>
        </p:nvSpPr>
        <p:spPr>
          <a:xfrm>
            <a:off x="502920" y="1837944"/>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RiskLevel  string  `json:"risk_level"`</a:t>
            </a:r>
            <a:endParaRPr lang="en-US" sz="980" dirty="0"/>
          </a:p>
        </p:txBody>
      </p:sp>
      <p:sp>
        <p:nvSpPr>
          <p:cNvPr id="11" name="Text 9"/>
          <p:cNvSpPr/>
          <p:nvPr/>
        </p:nvSpPr>
        <p:spPr>
          <a:xfrm>
            <a:off x="502920" y="1988820"/>
            <a:ext cx="4754880" cy="160020"/>
          </a:xfrm>
          <a:prstGeom prst="rect">
            <a:avLst/>
          </a:prstGeom>
          <a:noFill/>
          <a:ln/>
        </p:spPr>
        <p:txBody>
          <a:bodyPr wrap="square" rtlCol="0" anchor="ctr"/>
          <a:lstStyle/>
          <a:p>
            <a:pPr indent="0" marL="0">
              <a:buNone/>
            </a:pPr>
            <a:r>
              <a:rPr lang="en-US" sz="980" dirty="0">
                <a:solidFill>
                  <a:srgbClr val="BC8CFF"/>
                </a:solidFill>
                <a:latin typeface="Courier New" pitchFamily="34" charset="0"/>
                <a:ea typeface="Courier New" pitchFamily="34" charset="-122"/>
                <a:cs typeface="Courier New" pitchFamily="34" charset="-120"/>
              </a:rPr>
              <a:t>}</a:t>
            </a:r>
            <a:endParaRPr lang="en-US" sz="980" dirty="0"/>
          </a:p>
        </p:txBody>
      </p:sp>
      <p:sp>
        <p:nvSpPr>
          <p:cNvPr id="12" name="Text 10"/>
          <p:cNvSpPr/>
          <p:nvPr/>
        </p:nvSpPr>
        <p:spPr>
          <a:xfrm>
            <a:off x="502920" y="2139696"/>
            <a:ext cx="4754880" cy="160020"/>
          </a:xfrm>
          <a:prstGeom prst="rect">
            <a:avLst/>
          </a:prstGeom>
          <a:noFill/>
          <a:ln/>
        </p:spPr>
        <p:txBody>
          <a:bodyPr wrap="square" rtlCol="0" anchor="ctr"/>
          <a:lstStyle/>
          <a:p>
            <a:pPr indent="0" marL="0">
              <a:buNone/>
            </a:pPr>
            <a:endParaRPr lang="en-US" sz="980" dirty="0"/>
          </a:p>
        </p:txBody>
      </p:sp>
      <p:sp>
        <p:nvSpPr>
          <p:cNvPr id="13" name="Text 11"/>
          <p:cNvSpPr/>
          <p:nvPr/>
        </p:nvSpPr>
        <p:spPr>
          <a:xfrm>
            <a:off x="502920" y="2290572"/>
            <a:ext cx="4754880" cy="160020"/>
          </a:xfrm>
          <a:prstGeom prst="rect">
            <a:avLst/>
          </a:prstGeom>
          <a:noFill/>
          <a:ln/>
        </p:spPr>
        <p:txBody>
          <a:bodyPr wrap="square" rtlCol="0" anchor="ctr"/>
          <a:lstStyle/>
          <a:p>
            <a:pPr indent="0" marL="0">
              <a:buNone/>
            </a:pPr>
            <a:r>
              <a:rPr lang="en-US" sz="980" dirty="0">
                <a:solidFill>
                  <a:srgbClr val="58A6FF"/>
                </a:solidFill>
                <a:latin typeface="Courier New" pitchFamily="34" charset="0"/>
                <a:ea typeface="Courier New" pitchFamily="34" charset="-122"/>
                <a:cs typeface="Courier New" pitchFamily="34" charset="-120"/>
              </a:rPr>
              <a:t>func New(ctx context.Context) (*RunbookAgent, error) {</a:t>
            </a:r>
            <a:endParaRPr lang="en-US" sz="980" dirty="0"/>
          </a:p>
        </p:txBody>
      </p:sp>
      <p:sp>
        <p:nvSpPr>
          <p:cNvPr id="14" name="Text 12"/>
          <p:cNvSpPr/>
          <p:nvPr/>
        </p:nvSpPr>
        <p:spPr>
          <a:xfrm>
            <a:off x="502920" y="2441448"/>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g := genkit.Init(ctx,</a:t>
            </a:r>
            <a:endParaRPr lang="en-US" sz="980" dirty="0"/>
          </a:p>
        </p:txBody>
      </p:sp>
      <p:sp>
        <p:nvSpPr>
          <p:cNvPr id="15" name="Text 13"/>
          <p:cNvSpPr/>
          <p:nvPr/>
        </p:nvSpPr>
        <p:spPr>
          <a:xfrm>
            <a:off x="502920" y="2592324"/>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genkit.WithPlugins(&amp;googlegenai.GoogleAI{}),</a:t>
            </a:r>
            <a:endParaRPr lang="en-US" sz="980" dirty="0"/>
          </a:p>
        </p:txBody>
      </p:sp>
      <p:sp>
        <p:nvSpPr>
          <p:cNvPr id="16" name="Text 14"/>
          <p:cNvSpPr/>
          <p:nvPr/>
        </p:nvSpPr>
        <p:spPr>
          <a:xfrm>
            <a:off x="502920" y="2743200"/>
            <a:ext cx="4754880" cy="160020"/>
          </a:xfrm>
          <a:prstGeom prst="rect">
            <a:avLst/>
          </a:prstGeom>
          <a:noFill/>
          <a:ln/>
        </p:spPr>
        <p:txBody>
          <a:bodyPr wrap="square" rtlCol="0" anchor="ctr"/>
          <a:lstStyle/>
          <a:p>
            <a:pPr indent="0" marL="0">
              <a:buNone/>
            </a:pPr>
            <a:r>
              <a:rPr lang="en-US" sz="980" dirty="0">
                <a:solidFill>
                  <a:srgbClr val="EF9F27"/>
                </a:solidFill>
                <a:latin typeface="Courier New" pitchFamily="34" charset="0"/>
                <a:ea typeface="Courier New" pitchFamily="34" charset="-122"/>
                <a:cs typeface="Courier New" pitchFamily="34" charset="-120"/>
              </a:rPr>
              <a:t>    genkit.WithDefaultModel("googleai/gemini-2.5-flash"),</a:t>
            </a:r>
            <a:endParaRPr lang="en-US" sz="980" dirty="0"/>
          </a:p>
        </p:txBody>
      </p:sp>
      <p:sp>
        <p:nvSpPr>
          <p:cNvPr id="17" name="Text 15"/>
          <p:cNvSpPr/>
          <p:nvPr/>
        </p:nvSpPr>
        <p:spPr>
          <a:xfrm>
            <a:off x="502920" y="2894076"/>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a:t>
            </a:r>
            <a:endParaRPr lang="en-US" sz="980" dirty="0"/>
          </a:p>
        </p:txBody>
      </p:sp>
      <p:sp>
        <p:nvSpPr>
          <p:cNvPr id="18" name="Text 16"/>
          <p:cNvSpPr/>
          <p:nvPr/>
        </p:nvSpPr>
        <p:spPr>
          <a:xfrm>
            <a:off x="502920" y="3044952"/>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a.registerTools() // whitelist enforced here</a:t>
            </a:r>
            <a:endParaRPr lang="en-US" sz="980" dirty="0"/>
          </a:p>
        </p:txBody>
      </p:sp>
      <p:sp>
        <p:nvSpPr>
          <p:cNvPr id="19" name="Text 17"/>
          <p:cNvSpPr/>
          <p:nvPr/>
        </p:nvSpPr>
        <p:spPr>
          <a:xfrm>
            <a:off x="502920" y="3195828"/>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return a, nil</a:t>
            </a:r>
            <a:endParaRPr lang="en-US" sz="980" dirty="0"/>
          </a:p>
        </p:txBody>
      </p:sp>
      <p:sp>
        <p:nvSpPr>
          <p:cNvPr id="20" name="Text 18"/>
          <p:cNvSpPr/>
          <p:nvPr/>
        </p:nvSpPr>
        <p:spPr>
          <a:xfrm>
            <a:off x="502920" y="3346704"/>
            <a:ext cx="4754880" cy="160020"/>
          </a:xfrm>
          <a:prstGeom prst="rect">
            <a:avLst/>
          </a:prstGeom>
          <a:noFill/>
          <a:ln/>
        </p:spPr>
        <p:txBody>
          <a:bodyPr wrap="square" rtlCol="0" anchor="ctr"/>
          <a:lstStyle/>
          <a:p>
            <a:pPr indent="0" marL="0">
              <a:buNone/>
            </a:pPr>
            <a:r>
              <a:rPr lang="en-US" sz="980" dirty="0">
                <a:solidFill>
                  <a:srgbClr val="58A6FF"/>
                </a:solidFill>
                <a:latin typeface="Courier New" pitchFamily="34" charset="0"/>
                <a:ea typeface="Courier New" pitchFamily="34" charset="-122"/>
                <a:cs typeface="Courier New" pitchFamily="34" charset="-120"/>
              </a:rPr>
              <a:t>}</a:t>
            </a:r>
            <a:endParaRPr lang="en-US" sz="980" dirty="0"/>
          </a:p>
        </p:txBody>
      </p:sp>
      <p:sp>
        <p:nvSpPr>
          <p:cNvPr id="21" name="Text 19"/>
          <p:cNvSpPr/>
          <p:nvPr/>
        </p:nvSpPr>
        <p:spPr>
          <a:xfrm>
            <a:off x="502920" y="3497580"/>
            <a:ext cx="4754880" cy="160020"/>
          </a:xfrm>
          <a:prstGeom prst="rect">
            <a:avLst/>
          </a:prstGeom>
          <a:noFill/>
          <a:ln/>
        </p:spPr>
        <p:txBody>
          <a:bodyPr wrap="square" rtlCol="0" anchor="ctr"/>
          <a:lstStyle/>
          <a:p>
            <a:pPr indent="0" marL="0">
              <a:buNone/>
            </a:pPr>
            <a:endParaRPr lang="en-US" sz="980" dirty="0"/>
          </a:p>
        </p:txBody>
      </p:sp>
      <p:sp>
        <p:nvSpPr>
          <p:cNvPr id="22" name="Text 20"/>
          <p:cNvSpPr/>
          <p:nvPr/>
        </p:nvSpPr>
        <p:spPr>
          <a:xfrm>
            <a:off x="502920" y="3648456"/>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Diagnose runs the typed analysis flow</a:t>
            </a:r>
            <a:endParaRPr lang="en-US" sz="980" dirty="0"/>
          </a:p>
        </p:txBody>
      </p:sp>
      <p:sp>
        <p:nvSpPr>
          <p:cNvPr id="23" name="Text 21"/>
          <p:cNvSpPr/>
          <p:nvPr/>
        </p:nvSpPr>
        <p:spPr>
          <a:xfrm>
            <a:off x="502920" y="3799332"/>
            <a:ext cx="4754880" cy="160020"/>
          </a:xfrm>
          <a:prstGeom prst="rect">
            <a:avLst/>
          </a:prstGeom>
          <a:noFill/>
          <a:ln/>
        </p:spPr>
        <p:txBody>
          <a:bodyPr wrap="square" rtlCol="0" anchor="ctr"/>
          <a:lstStyle/>
          <a:p>
            <a:pPr indent="0" marL="0">
              <a:buNone/>
            </a:pPr>
            <a:r>
              <a:rPr lang="en-US" sz="980" dirty="0">
                <a:solidFill>
                  <a:srgbClr val="39D353"/>
                </a:solidFill>
                <a:latin typeface="Courier New" pitchFamily="34" charset="0"/>
                <a:ea typeface="Courier New" pitchFamily="34" charset="-122"/>
                <a:cs typeface="Courier New" pitchFamily="34" charset="-120"/>
              </a:rPr>
              <a:t>hyp, _, err := genkit.GenerateData[Hypothesis](</a:t>
            </a:r>
            <a:endParaRPr lang="en-US" sz="980" dirty="0"/>
          </a:p>
        </p:txBody>
      </p:sp>
      <p:sp>
        <p:nvSpPr>
          <p:cNvPr id="24" name="Text 22"/>
          <p:cNvSpPr/>
          <p:nvPr/>
        </p:nvSpPr>
        <p:spPr>
          <a:xfrm>
            <a:off x="502920" y="3950208"/>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ctx, g,</a:t>
            </a:r>
            <a:endParaRPr lang="en-US" sz="980" dirty="0"/>
          </a:p>
        </p:txBody>
      </p:sp>
      <p:sp>
        <p:nvSpPr>
          <p:cNvPr id="25" name="Text 23"/>
          <p:cNvSpPr/>
          <p:nvPr/>
        </p:nvSpPr>
        <p:spPr>
          <a:xfrm>
            <a:off x="502920" y="4101084"/>
            <a:ext cx="4754880" cy="160020"/>
          </a:xfrm>
          <a:prstGeom prst="rect">
            <a:avLst/>
          </a:prstGeom>
          <a:noFill/>
          <a:ln/>
        </p:spPr>
        <p:txBody>
          <a:bodyPr wrap="square" rtlCol="0" anchor="ctr"/>
          <a:lstStyle/>
          <a:p>
            <a:pPr indent="0" marL="0">
              <a:buNone/>
            </a:pPr>
            <a:r>
              <a:rPr lang="en-US" sz="980" dirty="0">
                <a:solidFill>
                  <a:srgbClr val="F0F6FC"/>
                </a:solidFill>
                <a:latin typeface="Courier New" pitchFamily="34" charset="0"/>
                <a:ea typeface="Courier New" pitchFamily="34" charset="-122"/>
                <a:cs typeface="Courier New" pitchFamily="34" charset="-120"/>
              </a:rPr>
              <a:t>  ai.WithPrompt(diagnosticPrompt),</a:t>
            </a:r>
            <a:endParaRPr lang="en-US" sz="980" dirty="0"/>
          </a:p>
        </p:txBody>
      </p:sp>
      <p:sp>
        <p:nvSpPr>
          <p:cNvPr id="26" name="Text 24"/>
          <p:cNvSpPr/>
          <p:nvPr/>
        </p:nvSpPr>
        <p:spPr>
          <a:xfrm>
            <a:off x="502920" y="4251960"/>
            <a:ext cx="4754880" cy="160020"/>
          </a:xfrm>
          <a:prstGeom prst="rect">
            <a:avLst/>
          </a:prstGeom>
          <a:noFill/>
          <a:ln/>
        </p:spPr>
        <p:txBody>
          <a:bodyPr wrap="square" rtlCol="0" anchor="ctr"/>
          <a:lstStyle/>
          <a:p>
            <a:pPr indent="0" marL="0">
              <a:buNone/>
            </a:pPr>
            <a:r>
              <a:rPr lang="en-US" sz="980" dirty="0">
                <a:solidFill>
                  <a:srgbClr val="8B949E"/>
                </a:solidFill>
                <a:latin typeface="Courier New" pitchFamily="34" charset="0"/>
                <a:ea typeface="Courier New" pitchFamily="34" charset="-122"/>
                <a:cs typeface="Courier New" pitchFamily="34" charset="-120"/>
              </a:rPr>
              <a:t>  ai.WithTemperature(0.1), // consistency &gt; creativity</a:t>
            </a:r>
            <a:endParaRPr lang="en-US" sz="980" dirty="0"/>
          </a:p>
        </p:txBody>
      </p:sp>
      <p:sp>
        <p:nvSpPr>
          <p:cNvPr id="27" name="Text 25"/>
          <p:cNvSpPr/>
          <p:nvPr/>
        </p:nvSpPr>
        <p:spPr>
          <a:xfrm>
            <a:off x="502920" y="4402836"/>
            <a:ext cx="4754880" cy="160020"/>
          </a:xfrm>
          <a:prstGeom prst="rect">
            <a:avLst/>
          </a:prstGeom>
          <a:noFill/>
          <a:ln/>
        </p:spPr>
        <p:txBody>
          <a:bodyPr wrap="square" rtlCol="0" anchor="ctr"/>
          <a:lstStyle/>
          <a:p>
            <a:pPr indent="0" marL="0">
              <a:buNone/>
            </a:pPr>
            <a:r>
              <a:rPr lang="en-US" sz="980" dirty="0">
                <a:solidFill>
                  <a:srgbClr val="58A6FF"/>
                </a:solidFill>
                <a:latin typeface="Courier New" pitchFamily="34" charset="0"/>
                <a:ea typeface="Courier New" pitchFamily="34" charset="-122"/>
                <a:cs typeface="Courier New" pitchFamily="34" charset="-120"/>
              </a:rPr>
              <a:t>  ai.WithTools(a.tools...),</a:t>
            </a:r>
            <a:endParaRPr lang="en-US" sz="980" dirty="0"/>
          </a:p>
        </p:txBody>
      </p:sp>
      <p:sp>
        <p:nvSpPr>
          <p:cNvPr id="28" name="Text 26"/>
          <p:cNvSpPr/>
          <p:nvPr/>
        </p:nvSpPr>
        <p:spPr>
          <a:xfrm>
            <a:off x="502920" y="4553712"/>
            <a:ext cx="4754880" cy="160020"/>
          </a:xfrm>
          <a:prstGeom prst="rect">
            <a:avLst/>
          </a:prstGeom>
          <a:noFill/>
          <a:ln/>
        </p:spPr>
        <p:txBody>
          <a:bodyPr wrap="square" rtlCol="0" anchor="ctr"/>
          <a:lstStyle/>
          <a:p>
            <a:pPr indent="0" marL="0">
              <a:buNone/>
            </a:pPr>
            <a:r>
              <a:rPr lang="en-US" sz="980" dirty="0">
                <a:solidFill>
                  <a:srgbClr val="39D353"/>
                </a:solidFill>
                <a:latin typeface="Courier New" pitchFamily="34" charset="0"/>
                <a:ea typeface="Courier New" pitchFamily="34" charset="-122"/>
                <a:cs typeface="Courier New" pitchFamily="34" charset="-120"/>
              </a:rPr>
              <a:t>)</a:t>
            </a:r>
            <a:endParaRPr lang="en-US" sz="980" dirty="0"/>
          </a:p>
        </p:txBody>
      </p:sp>
      <p:sp>
        <p:nvSpPr>
          <p:cNvPr id="29" name="Shape 27"/>
          <p:cNvSpPr/>
          <p:nvPr/>
        </p:nvSpPr>
        <p:spPr>
          <a:xfrm>
            <a:off x="5532120" y="804672"/>
            <a:ext cx="3291840" cy="1645920"/>
          </a:xfrm>
          <a:prstGeom prst="roundRect">
            <a:avLst>
              <a:gd name="adj" fmla="val 4444"/>
            </a:avLst>
          </a:prstGeom>
          <a:solidFill>
            <a:srgbClr val="161B22"/>
          </a:solidFill>
          <a:ln w="12700">
            <a:solidFill>
              <a:srgbClr val="39D353"/>
            </a:solidFill>
            <a:prstDash val="solid"/>
          </a:ln>
        </p:spPr>
      </p:sp>
      <p:sp>
        <p:nvSpPr>
          <p:cNvPr id="30" name="Text 28"/>
          <p:cNvSpPr/>
          <p:nvPr/>
        </p:nvSpPr>
        <p:spPr>
          <a:xfrm>
            <a:off x="5669280" y="868680"/>
            <a:ext cx="3017520" cy="347472"/>
          </a:xfrm>
          <a:prstGeom prst="rect">
            <a:avLst/>
          </a:prstGeom>
          <a:noFill/>
          <a:ln/>
        </p:spPr>
        <p:txBody>
          <a:bodyPr wrap="square" rtlCol="0" anchor="ctr"/>
          <a:lstStyle/>
          <a:p>
            <a:pPr indent="0" marL="0">
              <a:buNone/>
            </a:pPr>
            <a:r>
              <a:rPr lang="en-US" sz="1300" b="1" dirty="0">
                <a:solidFill>
                  <a:srgbClr val="39D353"/>
                </a:solidFill>
                <a:latin typeface="Calibri" pitchFamily="34" charset="0"/>
                <a:ea typeface="Calibri" pitchFamily="34" charset="-122"/>
                <a:cs typeface="Calibri" pitchFamily="34" charset="-120"/>
              </a:rPr>
              <a:t>✓  Agent CAN</a:t>
            </a:r>
            <a:endParaRPr lang="en-US" sz="1300" dirty="0"/>
          </a:p>
        </p:txBody>
      </p:sp>
      <p:sp>
        <p:nvSpPr>
          <p:cNvPr id="31" name="Text 29"/>
          <p:cNvSpPr/>
          <p:nvPr/>
        </p:nvSpPr>
        <p:spPr>
          <a:xfrm>
            <a:off x="5669280" y="1261872"/>
            <a:ext cx="3017520" cy="21031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Execute kubectl get/logs/describe</a:t>
            </a:r>
            <a:endParaRPr lang="en-US" sz="1000" dirty="0"/>
          </a:p>
        </p:txBody>
      </p:sp>
      <p:sp>
        <p:nvSpPr>
          <p:cNvPr id="32" name="Text 30"/>
          <p:cNvSpPr/>
          <p:nvPr/>
        </p:nvSpPr>
        <p:spPr>
          <a:xfrm>
            <a:off x="5669280" y="1481328"/>
            <a:ext cx="3017520" cy="21031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Query Prometheus PromQL</a:t>
            </a:r>
            <a:endParaRPr lang="en-US" sz="1000" dirty="0"/>
          </a:p>
        </p:txBody>
      </p:sp>
      <p:sp>
        <p:nvSpPr>
          <p:cNvPr id="33" name="Text 31"/>
          <p:cNvSpPr/>
          <p:nvPr/>
        </p:nvSpPr>
        <p:spPr>
          <a:xfrm>
            <a:off x="5669280" y="1700784"/>
            <a:ext cx="3017520" cy="21031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Read Redis key values</a:t>
            </a:r>
            <a:endParaRPr lang="en-US" sz="1000" dirty="0"/>
          </a:p>
        </p:txBody>
      </p:sp>
      <p:sp>
        <p:nvSpPr>
          <p:cNvPr id="34" name="Text 32"/>
          <p:cNvSpPr/>
          <p:nvPr/>
        </p:nvSpPr>
        <p:spPr>
          <a:xfrm>
            <a:off x="5669280" y="1920240"/>
            <a:ext cx="3017520" cy="21031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Diff deployment configs</a:t>
            </a:r>
            <a:endParaRPr lang="en-US" sz="1000" dirty="0"/>
          </a:p>
        </p:txBody>
      </p:sp>
      <p:sp>
        <p:nvSpPr>
          <p:cNvPr id="35" name="Text 33"/>
          <p:cNvSpPr/>
          <p:nvPr/>
        </p:nvSpPr>
        <p:spPr>
          <a:xfrm>
            <a:off x="5669280" y="2139696"/>
            <a:ext cx="3017520" cy="21031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Correlate log events</a:t>
            </a:r>
            <a:endParaRPr lang="en-US" sz="1000" dirty="0"/>
          </a:p>
        </p:txBody>
      </p:sp>
      <p:sp>
        <p:nvSpPr>
          <p:cNvPr id="36" name="Shape 34"/>
          <p:cNvSpPr/>
          <p:nvPr/>
        </p:nvSpPr>
        <p:spPr>
          <a:xfrm>
            <a:off x="5532120" y="2578608"/>
            <a:ext cx="3291840" cy="1737360"/>
          </a:xfrm>
          <a:prstGeom prst="roundRect">
            <a:avLst>
              <a:gd name="adj" fmla="val 4211"/>
            </a:avLst>
          </a:prstGeom>
          <a:solidFill>
            <a:srgbClr val="161B22"/>
          </a:solidFill>
          <a:ln w="12700">
            <a:solidFill>
              <a:srgbClr val="E24B4A"/>
            </a:solidFill>
            <a:prstDash val="solid"/>
          </a:ln>
        </p:spPr>
      </p:sp>
      <p:sp>
        <p:nvSpPr>
          <p:cNvPr id="37" name="Text 35"/>
          <p:cNvSpPr/>
          <p:nvPr/>
        </p:nvSpPr>
        <p:spPr>
          <a:xfrm>
            <a:off x="5669280" y="2651760"/>
            <a:ext cx="3017520" cy="347472"/>
          </a:xfrm>
          <a:prstGeom prst="rect">
            <a:avLst/>
          </a:prstGeom>
          <a:noFill/>
          <a:ln/>
        </p:spPr>
        <p:txBody>
          <a:bodyPr wrap="square" rtlCol="0" anchor="ctr"/>
          <a:lstStyle/>
          <a:p>
            <a:pPr indent="0" marL="0">
              <a:buNone/>
            </a:pPr>
            <a:r>
              <a:rPr lang="en-US" sz="1300" b="1" dirty="0">
                <a:solidFill>
                  <a:srgbClr val="E24B4A"/>
                </a:solidFill>
                <a:latin typeface="Calibri" pitchFamily="34" charset="0"/>
                <a:ea typeface="Calibri" pitchFamily="34" charset="-122"/>
                <a:cs typeface="Calibri" pitchFamily="34" charset="-120"/>
              </a:rPr>
              <a:t>✗  Agent CANNOT</a:t>
            </a:r>
            <a:endParaRPr lang="en-US" sz="1300" dirty="0"/>
          </a:p>
        </p:txBody>
      </p:sp>
      <p:sp>
        <p:nvSpPr>
          <p:cNvPr id="38" name="Text 36"/>
          <p:cNvSpPr/>
          <p:nvPr/>
        </p:nvSpPr>
        <p:spPr>
          <a:xfrm>
            <a:off x="5669280" y="3044952"/>
            <a:ext cx="3017520" cy="219456"/>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Execute non-whitelisted commands</a:t>
            </a:r>
            <a:endParaRPr lang="en-US" sz="1000" dirty="0"/>
          </a:p>
        </p:txBody>
      </p:sp>
      <p:sp>
        <p:nvSpPr>
          <p:cNvPr id="39" name="Text 37"/>
          <p:cNvSpPr/>
          <p:nvPr/>
        </p:nvSpPr>
        <p:spPr>
          <a:xfrm>
            <a:off x="5669280" y="3273552"/>
            <a:ext cx="3017520" cy="219456"/>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Modify production state</a:t>
            </a:r>
            <a:endParaRPr lang="en-US" sz="1000" dirty="0"/>
          </a:p>
        </p:txBody>
      </p:sp>
      <p:sp>
        <p:nvSpPr>
          <p:cNvPr id="40" name="Text 38"/>
          <p:cNvSpPr/>
          <p:nvPr/>
        </p:nvSpPr>
        <p:spPr>
          <a:xfrm>
            <a:off x="5669280" y="3502152"/>
            <a:ext cx="3017520" cy="219456"/>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Access other tenants</a:t>
            </a:r>
            <a:endParaRPr lang="en-US" sz="1000" dirty="0"/>
          </a:p>
        </p:txBody>
      </p:sp>
      <p:sp>
        <p:nvSpPr>
          <p:cNvPr id="41" name="Text 39"/>
          <p:cNvSpPr/>
          <p:nvPr/>
        </p:nvSpPr>
        <p:spPr>
          <a:xfrm>
            <a:off x="5669280" y="3730752"/>
            <a:ext cx="3017520" cy="219456"/>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Run arbitrary shell code</a:t>
            </a:r>
            <a:endParaRPr lang="en-US" sz="1000" dirty="0"/>
          </a:p>
        </p:txBody>
      </p:sp>
      <p:sp>
        <p:nvSpPr>
          <p:cNvPr id="42" name="Text 40"/>
          <p:cNvSpPr/>
          <p:nvPr/>
        </p:nvSpPr>
        <p:spPr>
          <a:xfrm>
            <a:off x="5669280" y="3959352"/>
            <a:ext cx="3017520" cy="219456"/>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  ✗  Bypass the approval gate</a:t>
            </a:r>
            <a:endParaRPr lang="en-US" sz="1000" dirty="0"/>
          </a:p>
        </p:txBody>
      </p:sp>
      <p:sp>
        <p:nvSpPr>
          <p:cNvPr id="43" name="Text 41"/>
          <p:cNvSpPr/>
          <p:nvPr/>
        </p:nvSpPr>
        <p:spPr>
          <a:xfrm>
            <a:off x="320040" y="4864608"/>
            <a:ext cx="8503920" cy="274320"/>
          </a:xfrm>
          <a:prstGeom prst="rect">
            <a:avLst/>
          </a:prstGeom>
          <a:noFill/>
          <a:ln/>
        </p:spPr>
        <p:txBody>
          <a:bodyPr wrap="square" rtlCol="0" anchor="ctr"/>
          <a:lstStyle/>
          <a:p>
            <a:pPr algn="ctr" indent="0" marL="0">
              <a:buNone/>
            </a:pPr>
            <a:r>
              <a:rPr lang="en-US" sz="1150" i="1" dirty="0">
                <a:solidFill>
                  <a:srgbClr val="58A6FF"/>
                </a:solidFill>
                <a:latin typeface="Calibri" pitchFamily="34" charset="0"/>
                <a:ea typeface="Calibri" pitchFamily="34" charset="-122"/>
                <a:cs typeface="Calibri" pitchFamily="34" charset="-120"/>
              </a:rPr>
              <a:t>Temperature 0.1: we need consistency, not creativity. This isn't poetry — it's incident response.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7863840" cy="502920"/>
          </a:xfrm>
          <a:prstGeom prst="rect">
            <a:avLst/>
          </a:prstGeom>
          <a:noFill/>
          <a:ln/>
        </p:spPr>
        <p:txBody>
          <a:bodyPr wrap="square" rtlCol="0" anchor="ctr"/>
          <a:lstStyle/>
          <a:p>
            <a:pPr indent="0" marL="0">
              <a:buNone/>
            </a:pPr>
            <a:r>
              <a:rPr lang="en-US" sz="2600" b="1" dirty="0">
                <a:solidFill>
                  <a:srgbClr val="F0F6FC"/>
                </a:solidFill>
                <a:latin typeface="Cambria" pitchFamily="34" charset="0"/>
                <a:ea typeface="Cambria" pitchFamily="34" charset="-122"/>
                <a:cs typeface="Cambria" pitchFamily="34" charset="-120"/>
              </a:rPr>
              <a:t>Human-in-the-Loop: The Approval Dashboard</a:t>
            </a:r>
            <a:endParaRPr lang="en-US" sz="2600" dirty="0"/>
          </a:p>
        </p:txBody>
      </p:sp>
      <p:sp>
        <p:nvSpPr>
          <p:cNvPr id="3" name="Shape 1"/>
          <p:cNvSpPr/>
          <p:nvPr/>
        </p:nvSpPr>
        <p:spPr>
          <a:xfrm>
            <a:off x="320040" y="804672"/>
            <a:ext cx="8503920" cy="3913632"/>
          </a:xfrm>
          <a:prstGeom prst="roundRect">
            <a:avLst>
              <a:gd name="adj" fmla="val 2336"/>
            </a:avLst>
          </a:prstGeom>
          <a:solidFill>
            <a:srgbClr val="161B22"/>
          </a:solidFill>
          <a:ln w="6350">
            <a:solidFill>
              <a:srgbClr val="30363D"/>
            </a:solidFill>
            <a:prstDash val="solid"/>
          </a:ln>
        </p:spPr>
      </p:sp>
      <p:sp>
        <p:nvSpPr>
          <p:cNvPr id="4" name="Shape 2"/>
          <p:cNvSpPr/>
          <p:nvPr/>
        </p:nvSpPr>
        <p:spPr>
          <a:xfrm>
            <a:off x="320040" y="804672"/>
            <a:ext cx="8503920" cy="438912"/>
          </a:xfrm>
          <a:prstGeom prst="rect">
            <a:avLst/>
          </a:prstGeom>
          <a:solidFill>
            <a:srgbClr val="21262D"/>
          </a:solidFill>
          <a:ln w="6350">
            <a:solidFill>
              <a:srgbClr val="30363D"/>
            </a:solidFill>
            <a:prstDash val="solid"/>
          </a:ln>
        </p:spPr>
      </p:sp>
      <p:sp>
        <p:nvSpPr>
          <p:cNvPr id="5" name="Text 3"/>
          <p:cNvSpPr/>
          <p:nvPr/>
        </p:nvSpPr>
        <p:spPr>
          <a:xfrm>
            <a:off x="457200" y="804672"/>
            <a:ext cx="8229600" cy="438912"/>
          </a:xfrm>
          <a:prstGeom prst="rect">
            <a:avLst/>
          </a:prstGeom>
          <a:noFill/>
          <a:ln/>
        </p:spPr>
        <p:txBody>
          <a:bodyPr wrap="square" rtlCol="0" anchor="ctr"/>
          <a:lstStyle/>
          <a:p>
            <a:pPr indent="0" marL="0">
              <a:buNone/>
            </a:pPr>
            <a:r>
              <a:rPr lang="en-US" sz="950" dirty="0">
                <a:solidFill>
                  <a:srgbClr val="EF9F27"/>
                </a:solidFill>
                <a:latin typeface="Courier New" pitchFamily="34" charset="0"/>
                <a:ea typeface="Courier New" pitchFamily="34" charset="-122"/>
                <a:cs typeface="Courier New" pitchFamily="34" charset="-120"/>
              </a:rPr>
              <a:t>●  Runbook Agent  |  INCIDENT: payment-gateway-failure-2847  |  Status: AWAITING APPROVAL  |  02:04 elapsed</a:t>
            </a:r>
            <a:endParaRPr lang="en-US" sz="950" dirty="0"/>
          </a:p>
        </p:txBody>
      </p:sp>
      <p:sp>
        <p:nvSpPr>
          <p:cNvPr id="6" name="Text 4"/>
          <p:cNvSpPr/>
          <p:nvPr/>
        </p:nvSpPr>
        <p:spPr>
          <a:xfrm>
            <a:off x="502920" y="1371600"/>
            <a:ext cx="4114800" cy="320040"/>
          </a:xfrm>
          <a:prstGeom prst="rect">
            <a:avLst/>
          </a:prstGeom>
          <a:noFill/>
          <a:ln/>
        </p:spPr>
        <p:txBody>
          <a:bodyPr wrap="square" rtlCol="0" anchor="ctr"/>
          <a:lstStyle/>
          <a:p>
            <a:pPr indent="0" marL="0">
              <a:buNone/>
            </a:pPr>
            <a:r>
              <a:rPr lang="en-US" sz="1300" b="1" dirty="0">
                <a:solidFill>
                  <a:srgbClr val="58A6FF"/>
                </a:solidFill>
                <a:latin typeface="Calibri" pitchFamily="34" charset="0"/>
                <a:ea typeface="Calibri" pitchFamily="34" charset="-122"/>
                <a:cs typeface="Calibri" pitchFamily="34" charset="-120"/>
              </a:rPr>
              <a:t>Agent Findings</a:t>
            </a:r>
            <a:endParaRPr lang="en-US" sz="1300" dirty="0"/>
          </a:p>
        </p:txBody>
      </p:sp>
      <p:sp>
        <p:nvSpPr>
          <p:cNvPr id="7" name="Text 5"/>
          <p:cNvSpPr/>
          <p:nvPr/>
        </p:nvSpPr>
        <p:spPr>
          <a:xfrm>
            <a:off x="502920" y="1755648"/>
            <a:ext cx="182880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Root cause:</a:t>
            </a:r>
            <a:endParaRPr lang="en-US" sz="1050" dirty="0"/>
          </a:p>
        </p:txBody>
      </p:sp>
      <p:sp>
        <p:nvSpPr>
          <p:cNvPr id="8" name="Text 6"/>
          <p:cNvSpPr/>
          <p:nvPr/>
        </p:nvSpPr>
        <p:spPr>
          <a:xfrm>
            <a:off x="2331720" y="1755648"/>
            <a:ext cx="2560320" cy="320040"/>
          </a:xfrm>
          <a:prstGeom prst="rect">
            <a:avLst/>
          </a:prstGeom>
          <a:noFill/>
          <a:ln/>
        </p:spPr>
        <p:txBody>
          <a:bodyPr wrap="square" rtlCol="0" anchor="ctr"/>
          <a:lstStyle/>
          <a:p>
            <a:pPr indent="0" marL="0">
              <a:buNone/>
            </a:pPr>
            <a:r>
              <a:rPr lang="en-US" sz="1050" dirty="0">
                <a:solidFill>
                  <a:srgbClr val="E24B4A"/>
                </a:solidFill>
                <a:latin typeface="Courier New" pitchFamily="34" charset="0"/>
                <a:ea typeface="Courier New" pitchFamily="34" charset="-122"/>
                <a:cs typeface="Courier New" pitchFamily="34" charset="-120"/>
              </a:rPr>
              <a:t>Stripe API returning 503 — regional outage</a:t>
            </a:r>
            <a:endParaRPr lang="en-US" sz="1050" dirty="0"/>
          </a:p>
        </p:txBody>
      </p:sp>
      <p:sp>
        <p:nvSpPr>
          <p:cNvPr id="9" name="Text 7"/>
          <p:cNvSpPr/>
          <p:nvPr/>
        </p:nvSpPr>
        <p:spPr>
          <a:xfrm>
            <a:off x="502920" y="2103120"/>
            <a:ext cx="182880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Pool usage:</a:t>
            </a:r>
            <a:endParaRPr lang="en-US" sz="1050" dirty="0"/>
          </a:p>
        </p:txBody>
      </p:sp>
      <p:sp>
        <p:nvSpPr>
          <p:cNvPr id="10" name="Text 8"/>
          <p:cNvSpPr/>
          <p:nvPr/>
        </p:nvSpPr>
        <p:spPr>
          <a:xfrm>
            <a:off x="2331720" y="2103120"/>
            <a:ext cx="2560320" cy="320040"/>
          </a:xfrm>
          <a:prstGeom prst="rect">
            <a:avLst/>
          </a:prstGeom>
          <a:noFill/>
          <a:ln/>
        </p:spPr>
        <p:txBody>
          <a:bodyPr wrap="square" rtlCol="0" anchor="ctr"/>
          <a:lstStyle/>
          <a:p>
            <a:pPr indent="0" marL="0">
              <a:buNone/>
            </a:pPr>
            <a:r>
              <a:rPr lang="en-US" sz="1050" dirty="0">
                <a:solidFill>
                  <a:srgbClr val="EF9F27"/>
                </a:solidFill>
                <a:latin typeface="Courier New" pitchFamily="34" charset="0"/>
                <a:ea typeface="Courier New" pitchFamily="34" charset="-122"/>
                <a:cs typeface="Courier New" pitchFamily="34" charset="-120"/>
              </a:rPr>
              <a:t>512/512 (100%) since 01:43 UTC</a:t>
            </a:r>
            <a:endParaRPr lang="en-US" sz="1050" dirty="0"/>
          </a:p>
        </p:txBody>
      </p:sp>
      <p:sp>
        <p:nvSpPr>
          <p:cNvPr id="11" name="Text 9"/>
          <p:cNvSpPr/>
          <p:nvPr/>
        </p:nvSpPr>
        <p:spPr>
          <a:xfrm>
            <a:off x="502920" y="2450592"/>
            <a:ext cx="182880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Affected tenants:</a:t>
            </a:r>
            <a:endParaRPr lang="en-US" sz="1050" dirty="0"/>
          </a:p>
        </p:txBody>
      </p:sp>
      <p:sp>
        <p:nvSpPr>
          <p:cNvPr id="12" name="Text 10"/>
          <p:cNvSpPr/>
          <p:nvPr/>
        </p:nvSpPr>
        <p:spPr>
          <a:xfrm>
            <a:off x="2331720" y="2450592"/>
            <a:ext cx="2560320" cy="320040"/>
          </a:xfrm>
          <a:prstGeom prst="rect">
            <a:avLst/>
          </a:prstGeom>
          <a:noFill/>
          <a:ln/>
        </p:spPr>
        <p:txBody>
          <a:bodyPr wrap="square" rtlCol="0" anchor="ctr"/>
          <a:lstStyle/>
          <a:p>
            <a:pPr indent="0" marL="0">
              <a:buNone/>
            </a:pPr>
            <a:r>
              <a:rPr lang="en-US" sz="1050" dirty="0">
                <a:solidFill>
                  <a:srgbClr val="F0F6FC"/>
                </a:solidFill>
                <a:latin typeface="Courier New" pitchFamily="34" charset="0"/>
                <a:ea typeface="Courier New" pitchFamily="34" charset="-122"/>
                <a:cs typeface="Courier New" pitchFamily="34" charset="-120"/>
              </a:rPr>
              <a:t>3 (tenant-007, tenant-019, tenant-044)</a:t>
            </a:r>
            <a:endParaRPr lang="en-US" sz="1050" dirty="0"/>
          </a:p>
        </p:txBody>
      </p:sp>
      <p:sp>
        <p:nvSpPr>
          <p:cNvPr id="13" name="Text 11"/>
          <p:cNvSpPr/>
          <p:nvPr/>
        </p:nvSpPr>
        <p:spPr>
          <a:xfrm>
            <a:off x="502920" y="2798064"/>
            <a:ext cx="182880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Confidence:</a:t>
            </a:r>
            <a:endParaRPr lang="en-US" sz="1050" dirty="0"/>
          </a:p>
        </p:txBody>
      </p:sp>
      <p:sp>
        <p:nvSpPr>
          <p:cNvPr id="14" name="Text 12"/>
          <p:cNvSpPr/>
          <p:nvPr/>
        </p:nvSpPr>
        <p:spPr>
          <a:xfrm>
            <a:off x="2331720" y="2798064"/>
            <a:ext cx="2560320" cy="320040"/>
          </a:xfrm>
          <a:prstGeom prst="rect">
            <a:avLst/>
          </a:prstGeom>
          <a:noFill/>
          <a:ln/>
        </p:spPr>
        <p:txBody>
          <a:bodyPr wrap="square" rtlCol="0" anchor="ctr"/>
          <a:lstStyle/>
          <a:p>
            <a:pPr indent="0" marL="0">
              <a:buNone/>
            </a:pPr>
            <a:r>
              <a:rPr lang="en-US" sz="1050" dirty="0">
                <a:solidFill>
                  <a:srgbClr val="39D353"/>
                </a:solidFill>
                <a:latin typeface="Courier New" pitchFamily="34" charset="0"/>
                <a:ea typeface="Courier New" pitchFamily="34" charset="-122"/>
                <a:cs typeface="Courier New" pitchFamily="34" charset="-120"/>
              </a:rPr>
              <a:t>94%  (23 correlated log events)</a:t>
            </a:r>
            <a:endParaRPr lang="en-US" sz="1050" dirty="0"/>
          </a:p>
        </p:txBody>
      </p:sp>
      <p:sp>
        <p:nvSpPr>
          <p:cNvPr id="15" name="Text 13"/>
          <p:cNvSpPr/>
          <p:nvPr/>
        </p:nvSpPr>
        <p:spPr>
          <a:xfrm>
            <a:off x="502920" y="3145536"/>
            <a:ext cx="182880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Prior incidents:</a:t>
            </a:r>
            <a:endParaRPr lang="en-US" sz="1050" dirty="0"/>
          </a:p>
        </p:txBody>
      </p:sp>
      <p:sp>
        <p:nvSpPr>
          <p:cNvPr id="16" name="Text 14"/>
          <p:cNvSpPr/>
          <p:nvPr/>
        </p:nvSpPr>
        <p:spPr>
          <a:xfrm>
            <a:off x="2331720" y="3145536"/>
            <a:ext cx="2560320" cy="320040"/>
          </a:xfrm>
          <a:prstGeom prst="rect">
            <a:avLst/>
          </a:prstGeom>
          <a:noFill/>
          <a:ln/>
        </p:spPr>
        <p:txBody>
          <a:bodyPr wrap="square" rtlCol="0" anchor="ctr"/>
          <a:lstStyle/>
          <a:p>
            <a:pPr indent="0" marL="0">
              <a:buNone/>
            </a:pPr>
            <a:r>
              <a:rPr lang="en-US" sz="1050" dirty="0">
                <a:solidFill>
                  <a:srgbClr val="8B949E"/>
                </a:solidFill>
                <a:latin typeface="Courier New" pitchFamily="34" charset="0"/>
                <a:ea typeface="Courier New" pitchFamily="34" charset="-122"/>
                <a:cs typeface="Courier New" pitchFamily="34" charset="-120"/>
              </a:rPr>
              <a:t>v2.2.8 had identical pattern (Aug 14)</a:t>
            </a:r>
            <a:endParaRPr lang="en-US" sz="1050" dirty="0"/>
          </a:p>
        </p:txBody>
      </p:sp>
      <p:sp>
        <p:nvSpPr>
          <p:cNvPr id="17" name="Shape 15"/>
          <p:cNvSpPr/>
          <p:nvPr/>
        </p:nvSpPr>
        <p:spPr>
          <a:xfrm>
            <a:off x="5074920" y="1298448"/>
            <a:ext cx="3520440" cy="1874520"/>
          </a:xfrm>
          <a:prstGeom prst="roundRect">
            <a:avLst>
              <a:gd name="adj" fmla="val 3902"/>
            </a:avLst>
          </a:prstGeom>
          <a:solidFill>
            <a:srgbClr val="0D1117"/>
          </a:solidFill>
          <a:ln w="12700">
            <a:solidFill>
              <a:srgbClr val="EF9F27"/>
            </a:solidFill>
            <a:prstDash val="solid"/>
          </a:ln>
        </p:spPr>
      </p:sp>
      <p:sp>
        <p:nvSpPr>
          <p:cNvPr id="18" name="Text 16"/>
          <p:cNvSpPr/>
          <p:nvPr/>
        </p:nvSpPr>
        <p:spPr>
          <a:xfrm>
            <a:off x="5212080" y="1371600"/>
            <a:ext cx="3246120" cy="320040"/>
          </a:xfrm>
          <a:prstGeom prst="rect">
            <a:avLst/>
          </a:prstGeom>
          <a:noFill/>
          <a:ln/>
        </p:spPr>
        <p:txBody>
          <a:bodyPr wrap="square" rtlCol="0" anchor="ctr"/>
          <a:lstStyle/>
          <a:p>
            <a:pPr indent="0" marL="0">
              <a:buNone/>
            </a:pPr>
            <a:r>
              <a:rPr lang="en-US" sz="1300" b="1" dirty="0">
                <a:solidFill>
                  <a:srgbClr val="EF9F27"/>
                </a:solidFill>
                <a:latin typeface="Calibri" pitchFamily="34" charset="0"/>
                <a:ea typeface="Calibri" pitchFamily="34" charset="-122"/>
                <a:cs typeface="Calibri" pitchFamily="34" charset="-120"/>
              </a:rPr>
              <a:t>Proposed Action</a:t>
            </a:r>
            <a:endParaRPr lang="en-US" sz="1300" dirty="0"/>
          </a:p>
        </p:txBody>
      </p:sp>
      <p:sp>
        <p:nvSpPr>
          <p:cNvPr id="19" name="Text 17"/>
          <p:cNvSpPr/>
          <p:nvPr/>
        </p:nvSpPr>
        <p:spPr>
          <a:xfrm>
            <a:off x="5212080" y="1737360"/>
            <a:ext cx="3246120" cy="132588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Rolling restart of payment-service</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across 3 affected pods</a:t>
            </a:r>
            <a:endParaRPr lang="en-US" sz="1100" dirty="0"/>
          </a:p>
          <a:p>
            <a:pPr indent="0" marL="0">
              <a:buNone/>
            </a:pP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Impact: ~12s disruption  |  Blast radius: LOW</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Rollback: auto on health check failure</a:t>
            </a:r>
            <a:endParaRPr lang="en-US" sz="1100" dirty="0"/>
          </a:p>
        </p:txBody>
      </p:sp>
      <p:sp>
        <p:nvSpPr>
          <p:cNvPr id="20" name="Shape 18"/>
          <p:cNvSpPr/>
          <p:nvPr/>
        </p:nvSpPr>
        <p:spPr>
          <a:xfrm>
            <a:off x="5120640" y="3291840"/>
            <a:ext cx="1508760" cy="475488"/>
          </a:xfrm>
          <a:prstGeom prst="roundRect">
            <a:avLst>
              <a:gd name="adj" fmla="val 11538"/>
            </a:avLst>
          </a:prstGeom>
          <a:solidFill>
            <a:srgbClr val="39D353"/>
          </a:solidFill>
          <a:ln w="12700">
            <a:solidFill>
              <a:srgbClr val="39D353"/>
            </a:solidFill>
            <a:prstDash val="solid"/>
          </a:ln>
        </p:spPr>
      </p:sp>
      <p:sp>
        <p:nvSpPr>
          <p:cNvPr id="21" name="Text 19"/>
          <p:cNvSpPr/>
          <p:nvPr/>
        </p:nvSpPr>
        <p:spPr>
          <a:xfrm>
            <a:off x="5120640" y="3291840"/>
            <a:ext cx="1508760" cy="475488"/>
          </a:xfrm>
          <a:prstGeom prst="rect">
            <a:avLst/>
          </a:prstGeom>
          <a:noFill/>
          <a:ln/>
        </p:spPr>
        <p:txBody>
          <a:bodyPr wrap="square" rtlCol="0" anchor="ctr"/>
          <a:lstStyle/>
          <a:p>
            <a:pPr algn="ctr" indent="0" marL="0">
              <a:buNone/>
            </a:pPr>
            <a:r>
              <a:rPr lang="en-US" sz="1200" b="1" dirty="0">
                <a:solidFill>
                  <a:srgbClr val="0D1117"/>
                </a:solidFill>
                <a:latin typeface="Calibri" pitchFamily="34" charset="0"/>
                <a:ea typeface="Calibri" pitchFamily="34" charset="-122"/>
                <a:cs typeface="Calibri" pitchFamily="34" charset="-120"/>
              </a:rPr>
              <a:t>✓  APPROVE</a:t>
            </a:r>
            <a:endParaRPr lang="en-US" sz="1200" dirty="0"/>
          </a:p>
        </p:txBody>
      </p:sp>
      <p:sp>
        <p:nvSpPr>
          <p:cNvPr id="22" name="Shape 20"/>
          <p:cNvSpPr/>
          <p:nvPr/>
        </p:nvSpPr>
        <p:spPr>
          <a:xfrm>
            <a:off x="6812280" y="3291840"/>
            <a:ext cx="1508760" cy="475488"/>
          </a:xfrm>
          <a:prstGeom prst="roundRect">
            <a:avLst>
              <a:gd name="adj" fmla="val 11538"/>
            </a:avLst>
          </a:prstGeom>
          <a:solidFill>
            <a:srgbClr val="21262D"/>
          </a:solidFill>
          <a:ln w="12700">
            <a:solidFill>
              <a:srgbClr val="E24B4A"/>
            </a:solidFill>
            <a:prstDash val="solid"/>
          </a:ln>
        </p:spPr>
      </p:sp>
      <p:sp>
        <p:nvSpPr>
          <p:cNvPr id="23" name="Text 21"/>
          <p:cNvSpPr/>
          <p:nvPr/>
        </p:nvSpPr>
        <p:spPr>
          <a:xfrm>
            <a:off x="6812280" y="3291840"/>
            <a:ext cx="1508760" cy="475488"/>
          </a:xfrm>
          <a:prstGeom prst="rect">
            <a:avLst/>
          </a:prstGeom>
          <a:noFill/>
          <a:ln/>
        </p:spPr>
        <p:txBody>
          <a:bodyPr wrap="square" rtlCol="0" anchor="ctr"/>
          <a:lstStyle/>
          <a:p>
            <a:pPr algn="ctr" indent="0" marL="0">
              <a:buNone/>
            </a:pPr>
            <a:r>
              <a:rPr lang="en-US" sz="1200" b="1" dirty="0">
                <a:solidFill>
                  <a:srgbClr val="E24B4A"/>
                </a:solidFill>
                <a:latin typeface="Calibri" pitchFamily="34" charset="0"/>
                <a:ea typeface="Calibri" pitchFamily="34" charset="-122"/>
                <a:cs typeface="Calibri" pitchFamily="34" charset="-120"/>
              </a:rPr>
              <a:t>✗  REJECT</a:t>
            </a:r>
            <a:endParaRPr lang="en-US" sz="1200" dirty="0"/>
          </a:p>
        </p:txBody>
      </p:sp>
      <p:sp>
        <p:nvSpPr>
          <p:cNvPr id="24" name="Text 22"/>
          <p:cNvSpPr/>
          <p:nvPr/>
        </p:nvSpPr>
        <p:spPr>
          <a:xfrm>
            <a:off x="320040" y="4818888"/>
            <a:ext cx="8503920" cy="292608"/>
          </a:xfrm>
          <a:prstGeom prst="rect">
            <a:avLst/>
          </a:prstGeom>
          <a:noFill/>
          <a:ln/>
        </p:spPr>
        <p:txBody>
          <a:bodyPr wrap="square" rtlCol="0" anchor="ctr"/>
          <a:lstStyle/>
          <a:p>
            <a:pPr algn="ctr" indent="0" marL="0">
              <a:buNone/>
            </a:pPr>
            <a:r>
              <a:rPr lang="en-US" sz="1150" i="1" dirty="0">
                <a:solidFill>
                  <a:srgbClr val="8B949E"/>
                </a:solidFill>
                <a:latin typeface="Calibri" pitchFamily="34" charset="0"/>
                <a:ea typeface="Calibri" pitchFamily="34" charset="-122"/>
                <a:cs typeface="Calibri" pitchFamily="34" charset="-120"/>
              </a:rPr>
              <a:t>The Go channel blocks indefinitely. The agent will not act without a human click.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7863840" cy="502920"/>
          </a:xfrm>
          <a:prstGeom prst="rect">
            <a:avLst/>
          </a:prstGeom>
          <a:noFill/>
          <a:ln/>
        </p:spPr>
        <p:txBody>
          <a:bodyPr wrap="square" rtlCol="0" anchor="ctr"/>
          <a:lstStyle/>
          <a:p>
            <a:pPr indent="0" marL="0">
              <a:buNone/>
            </a:pPr>
            <a:r>
              <a:rPr lang="en-US" sz="2600" b="1" dirty="0">
                <a:solidFill>
                  <a:srgbClr val="F0F6FC"/>
                </a:solidFill>
                <a:latin typeface="Cambria" pitchFamily="34" charset="0"/>
                <a:ea typeface="Cambria" pitchFamily="34" charset="-122"/>
                <a:cs typeface="Cambria" pitchFamily="34" charset="-120"/>
              </a:rPr>
              <a:t>Wiring the Approval Gate in Go</a:t>
            </a:r>
            <a:endParaRPr lang="en-US" sz="2600" dirty="0"/>
          </a:p>
        </p:txBody>
      </p:sp>
      <p:sp>
        <p:nvSpPr>
          <p:cNvPr id="3" name="Shape 1"/>
          <p:cNvSpPr/>
          <p:nvPr/>
        </p:nvSpPr>
        <p:spPr>
          <a:xfrm>
            <a:off x="320040" y="804672"/>
            <a:ext cx="8503920" cy="4023360"/>
          </a:xfrm>
          <a:prstGeom prst="roundRect">
            <a:avLst>
              <a:gd name="adj" fmla="val 1818"/>
            </a:avLst>
          </a:prstGeom>
          <a:solidFill>
            <a:srgbClr val="161B22"/>
          </a:solidFill>
          <a:ln w="6350">
            <a:solidFill>
              <a:srgbClr val="30363D"/>
            </a:solidFill>
            <a:prstDash val="solid"/>
          </a:ln>
        </p:spPr>
      </p:sp>
      <p:sp>
        <p:nvSpPr>
          <p:cNvPr id="4" name="Text 2"/>
          <p:cNvSpPr/>
          <p:nvPr/>
        </p:nvSpPr>
        <p:spPr>
          <a:xfrm>
            <a:off x="502920" y="941832"/>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internal/approval/service.go</a:t>
            </a:r>
            <a:endParaRPr lang="en-US" sz="1000" dirty="0"/>
          </a:p>
        </p:txBody>
      </p:sp>
      <p:sp>
        <p:nvSpPr>
          <p:cNvPr id="5" name="Text 3"/>
          <p:cNvSpPr/>
          <p:nvPr/>
        </p:nvSpPr>
        <p:spPr>
          <a:xfrm>
            <a:off x="502920" y="1104595"/>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The goroutine parks here until engineer decides.</a:t>
            </a:r>
            <a:endParaRPr lang="en-US" sz="1000" dirty="0"/>
          </a:p>
        </p:txBody>
      </p:sp>
      <p:sp>
        <p:nvSpPr>
          <p:cNvPr id="6" name="Text 4"/>
          <p:cNvSpPr/>
          <p:nvPr/>
        </p:nvSpPr>
        <p:spPr>
          <a:xfrm>
            <a:off x="502920" y="1267358"/>
            <a:ext cx="8138160" cy="169164"/>
          </a:xfrm>
          <a:prstGeom prst="rect">
            <a:avLst/>
          </a:prstGeom>
          <a:noFill/>
          <a:ln/>
        </p:spPr>
        <p:txBody>
          <a:bodyPr wrap="square" rtlCol="0" anchor="ctr"/>
          <a:lstStyle/>
          <a:p>
            <a:pPr indent="0" marL="0">
              <a:buNone/>
            </a:pPr>
            <a:endParaRPr lang="en-US" sz="1000" dirty="0"/>
          </a:p>
        </p:txBody>
      </p:sp>
      <p:sp>
        <p:nvSpPr>
          <p:cNvPr id="7" name="Text 5"/>
          <p:cNvSpPr/>
          <p:nvPr/>
        </p:nvSpPr>
        <p:spPr>
          <a:xfrm>
            <a:off x="502920" y="1430122"/>
            <a:ext cx="8138160" cy="169164"/>
          </a:xfrm>
          <a:prstGeom prst="rect">
            <a:avLst/>
          </a:prstGeom>
          <a:noFill/>
          <a:ln/>
        </p:spPr>
        <p:txBody>
          <a:bodyPr wrap="square" rtlCol="0" anchor="ctr"/>
          <a:lstStyle/>
          <a:p>
            <a:pPr indent="0" marL="0">
              <a:buNone/>
            </a:pPr>
            <a:r>
              <a:rPr lang="en-US" sz="1000" dirty="0">
                <a:solidFill>
                  <a:srgbClr val="58A6FF"/>
                </a:solidFill>
                <a:latin typeface="Courier New" pitchFamily="34" charset="0"/>
                <a:ea typeface="Courier New" pitchFamily="34" charset="-122"/>
                <a:cs typeface="Courier New" pitchFamily="34" charset="-120"/>
              </a:rPr>
              <a:t>func (s *Service) Request(</a:t>
            </a:r>
            <a:endParaRPr lang="en-US" sz="1000" dirty="0"/>
          </a:p>
        </p:txBody>
      </p:sp>
      <p:sp>
        <p:nvSpPr>
          <p:cNvPr id="8" name="Text 6"/>
          <p:cNvSpPr/>
          <p:nvPr/>
        </p:nvSpPr>
        <p:spPr>
          <a:xfrm>
            <a:off x="502920" y="1592885"/>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ctx context.Context, incidentID string,</a:t>
            </a:r>
            <a:endParaRPr lang="en-US" sz="1000" dirty="0"/>
          </a:p>
        </p:txBody>
      </p:sp>
      <p:sp>
        <p:nvSpPr>
          <p:cNvPr id="9" name="Text 7"/>
          <p:cNvSpPr/>
          <p:nvPr/>
        </p:nvSpPr>
        <p:spPr>
          <a:xfrm>
            <a:off x="502920" y="1755648"/>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hyp *agent.Hypothesis,</a:t>
            </a:r>
            <a:endParaRPr lang="en-US" sz="1000" dirty="0"/>
          </a:p>
        </p:txBody>
      </p:sp>
      <p:sp>
        <p:nvSpPr>
          <p:cNvPr id="10" name="Text 8"/>
          <p:cNvSpPr/>
          <p:nvPr/>
        </p:nvSpPr>
        <p:spPr>
          <a:xfrm>
            <a:off x="502920" y="1918411"/>
            <a:ext cx="8138160" cy="169164"/>
          </a:xfrm>
          <a:prstGeom prst="rect">
            <a:avLst/>
          </a:prstGeom>
          <a:noFill/>
          <a:ln/>
        </p:spPr>
        <p:txBody>
          <a:bodyPr wrap="square" rtlCol="0" anchor="ctr"/>
          <a:lstStyle/>
          <a:p>
            <a:pPr indent="0" marL="0">
              <a:buNone/>
            </a:pPr>
            <a:r>
              <a:rPr lang="en-US" sz="1000" dirty="0">
                <a:solidFill>
                  <a:srgbClr val="58A6FF"/>
                </a:solidFill>
                <a:latin typeface="Courier New" pitchFamily="34" charset="0"/>
                <a:ea typeface="Courier New" pitchFamily="34" charset="-122"/>
                <a:cs typeface="Courier New" pitchFamily="34" charset="-120"/>
              </a:rPr>
              <a:t>) (bool, string, error) {</a:t>
            </a:r>
            <a:endParaRPr lang="en-US" sz="1000" dirty="0"/>
          </a:p>
        </p:txBody>
      </p:sp>
      <p:sp>
        <p:nvSpPr>
          <p:cNvPr id="11" name="Text 9"/>
          <p:cNvSpPr/>
          <p:nvPr/>
        </p:nvSpPr>
        <p:spPr>
          <a:xfrm>
            <a:off x="502920" y="2081174"/>
            <a:ext cx="8138160" cy="169164"/>
          </a:xfrm>
          <a:prstGeom prst="rect">
            <a:avLst/>
          </a:prstGeom>
          <a:noFill/>
          <a:ln/>
        </p:spPr>
        <p:txBody>
          <a:bodyPr wrap="square" rtlCol="0" anchor="ctr"/>
          <a:lstStyle/>
          <a:p>
            <a:pPr indent="0" marL="0">
              <a:buNone/>
            </a:pPr>
            <a:endParaRPr lang="en-US" sz="1000" dirty="0"/>
          </a:p>
        </p:txBody>
      </p:sp>
      <p:sp>
        <p:nvSpPr>
          <p:cNvPr id="12" name="Text 10"/>
          <p:cNvSpPr/>
          <p:nvPr/>
        </p:nvSpPr>
        <p:spPr>
          <a:xfrm>
            <a:off x="502920" y="2243938"/>
            <a:ext cx="8138160" cy="169164"/>
          </a:xfrm>
          <a:prstGeom prst="rect">
            <a:avLst/>
          </a:prstGeom>
          <a:noFill/>
          <a:ln/>
        </p:spPr>
        <p:txBody>
          <a:bodyPr wrap="square" rtlCol="0" anchor="ctr"/>
          <a:lstStyle/>
          <a:p>
            <a:pPr indent="0" marL="0">
              <a:buNone/>
            </a:pPr>
            <a:r>
              <a:rPr lang="en-US" sz="1000" dirty="0">
                <a:solidFill>
                  <a:srgbClr val="F0F6FC"/>
                </a:solidFill>
                <a:latin typeface="Courier New" pitchFamily="34" charset="0"/>
                <a:ea typeface="Courier New" pitchFamily="34" charset="-122"/>
                <a:cs typeface="Courier New" pitchFamily="34" charset="-120"/>
              </a:rPr>
              <a:t>  ch := make(chan Result, 1)</a:t>
            </a:r>
            <a:endParaRPr lang="en-US" sz="1000" dirty="0"/>
          </a:p>
        </p:txBody>
      </p:sp>
      <p:sp>
        <p:nvSpPr>
          <p:cNvPr id="13" name="Text 11"/>
          <p:cNvSpPr/>
          <p:nvPr/>
        </p:nvSpPr>
        <p:spPr>
          <a:xfrm>
            <a:off x="502920" y="2406701"/>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s.pending[id] = ch  // dashboard polls GetPending()</a:t>
            </a:r>
            <a:endParaRPr lang="en-US" sz="1000" dirty="0"/>
          </a:p>
        </p:txBody>
      </p:sp>
      <p:sp>
        <p:nvSpPr>
          <p:cNvPr id="14" name="Text 12"/>
          <p:cNvSpPr/>
          <p:nvPr/>
        </p:nvSpPr>
        <p:spPr>
          <a:xfrm>
            <a:off x="502920" y="2569464"/>
            <a:ext cx="8138160" cy="169164"/>
          </a:xfrm>
          <a:prstGeom prst="rect">
            <a:avLst/>
          </a:prstGeom>
          <a:noFill/>
          <a:ln/>
        </p:spPr>
        <p:txBody>
          <a:bodyPr wrap="square" rtlCol="0" anchor="ctr"/>
          <a:lstStyle/>
          <a:p>
            <a:pPr indent="0" marL="0">
              <a:buNone/>
            </a:pPr>
            <a:endParaRPr lang="en-US" sz="1000" dirty="0"/>
          </a:p>
        </p:txBody>
      </p:sp>
      <p:sp>
        <p:nvSpPr>
          <p:cNvPr id="15" name="Text 13"/>
          <p:cNvSpPr/>
          <p:nvPr/>
        </p:nvSpPr>
        <p:spPr>
          <a:xfrm>
            <a:off x="502920" y="2732227"/>
            <a:ext cx="8138160" cy="169164"/>
          </a:xfrm>
          <a:prstGeom prst="rect">
            <a:avLst/>
          </a:prstGeom>
          <a:noFill/>
          <a:ln/>
        </p:spPr>
        <p:txBody>
          <a:bodyPr wrap="square" rtlCol="0" anchor="ctr"/>
          <a:lstStyle/>
          <a:p>
            <a:pPr indent="0" marL="0">
              <a:buNone/>
            </a:pPr>
            <a:r>
              <a:rPr lang="en-US" sz="1000" dirty="0">
                <a:solidFill>
                  <a:srgbClr val="BC8CFF"/>
                </a:solidFill>
                <a:latin typeface="Courier New" pitchFamily="34" charset="0"/>
                <a:ea typeface="Courier New" pitchFamily="34" charset="-122"/>
                <a:cs typeface="Courier New" pitchFamily="34" charset="-120"/>
              </a:rPr>
              <a:t>  select {</a:t>
            </a:r>
            <a:endParaRPr lang="en-US" sz="1000" dirty="0"/>
          </a:p>
        </p:txBody>
      </p:sp>
      <p:sp>
        <p:nvSpPr>
          <p:cNvPr id="16" name="Text 14"/>
          <p:cNvSpPr/>
          <p:nvPr/>
        </p:nvSpPr>
        <p:spPr>
          <a:xfrm>
            <a:off x="502920" y="2894990"/>
            <a:ext cx="8138160" cy="169164"/>
          </a:xfrm>
          <a:prstGeom prst="rect">
            <a:avLst/>
          </a:prstGeom>
          <a:noFill/>
          <a:ln/>
        </p:spPr>
        <p:txBody>
          <a:bodyPr wrap="square" rtlCol="0" anchor="ctr"/>
          <a:lstStyle/>
          <a:p>
            <a:pPr indent="0" marL="0">
              <a:buNone/>
            </a:pPr>
            <a:r>
              <a:rPr lang="en-US" sz="1000" dirty="0">
                <a:solidFill>
                  <a:srgbClr val="39D353"/>
                </a:solidFill>
                <a:latin typeface="Courier New" pitchFamily="34" charset="0"/>
                <a:ea typeface="Courier New" pitchFamily="34" charset="-122"/>
                <a:cs typeface="Courier New" pitchFamily="34" charset="-120"/>
              </a:rPr>
              <a:t>  case result := &lt;-ch:</a:t>
            </a:r>
            <a:endParaRPr lang="en-US" sz="1000" dirty="0"/>
          </a:p>
        </p:txBody>
      </p:sp>
      <p:sp>
        <p:nvSpPr>
          <p:cNvPr id="17" name="Text 15"/>
          <p:cNvSpPr/>
          <p:nvPr/>
        </p:nvSpPr>
        <p:spPr>
          <a:xfrm>
            <a:off x="502920" y="3057754"/>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 Engineer clicked Approve or Reject</a:t>
            </a:r>
            <a:endParaRPr lang="en-US" sz="1000" dirty="0"/>
          </a:p>
        </p:txBody>
      </p:sp>
      <p:sp>
        <p:nvSpPr>
          <p:cNvPr id="18" name="Text 16"/>
          <p:cNvSpPr/>
          <p:nvPr/>
        </p:nvSpPr>
        <p:spPr>
          <a:xfrm>
            <a:off x="502920" y="3220517"/>
            <a:ext cx="8138160" cy="169164"/>
          </a:xfrm>
          <a:prstGeom prst="rect">
            <a:avLst/>
          </a:prstGeom>
          <a:noFill/>
          <a:ln/>
        </p:spPr>
        <p:txBody>
          <a:bodyPr wrap="square" rtlCol="0" anchor="ctr"/>
          <a:lstStyle/>
          <a:p>
            <a:pPr indent="0" marL="0">
              <a:buNone/>
            </a:pPr>
            <a:r>
              <a:rPr lang="en-US" sz="1000" dirty="0">
                <a:solidFill>
                  <a:srgbClr val="F0F6FC"/>
                </a:solidFill>
                <a:latin typeface="Courier New" pitchFamily="34" charset="0"/>
                <a:ea typeface="Courier New" pitchFamily="34" charset="-122"/>
                <a:cs typeface="Courier New" pitchFamily="34" charset="-120"/>
              </a:rPr>
              <a:t>    return result.Approved, result.Justification, nil</a:t>
            </a:r>
            <a:endParaRPr lang="en-US" sz="1000" dirty="0"/>
          </a:p>
        </p:txBody>
      </p:sp>
      <p:sp>
        <p:nvSpPr>
          <p:cNvPr id="19" name="Text 17"/>
          <p:cNvSpPr/>
          <p:nvPr/>
        </p:nvSpPr>
        <p:spPr>
          <a:xfrm>
            <a:off x="502920" y="3383280"/>
            <a:ext cx="8138160" cy="169164"/>
          </a:xfrm>
          <a:prstGeom prst="rect">
            <a:avLst/>
          </a:prstGeom>
          <a:noFill/>
          <a:ln/>
        </p:spPr>
        <p:txBody>
          <a:bodyPr wrap="square" rtlCol="0" anchor="ctr"/>
          <a:lstStyle/>
          <a:p>
            <a:pPr indent="0" marL="0">
              <a:buNone/>
            </a:pPr>
            <a:endParaRPr lang="en-US" sz="1000" dirty="0"/>
          </a:p>
        </p:txBody>
      </p:sp>
      <p:sp>
        <p:nvSpPr>
          <p:cNvPr id="20" name="Text 18"/>
          <p:cNvSpPr/>
          <p:nvPr/>
        </p:nvSpPr>
        <p:spPr>
          <a:xfrm>
            <a:off x="502920" y="3546043"/>
            <a:ext cx="8138160" cy="169164"/>
          </a:xfrm>
          <a:prstGeom prst="rect">
            <a:avLst/>
          </a:prstGeom>
          <a:noFill/>
          <a:ln/>
        </p:spPr>
        <p:txBody>
          <a:bodyPr wrap="square" rtlCol="0" anchor="ctr"/>
          <a:lstStyle/>
          <a:p>
            <a:pPr indent="0" marL="0">
              <a:buNone/>
            </a:pPr>
            <a:r>
              <a:rPr lang="en-US" sz="1000" dirty="0">
                <a:solidFill>
                  <a:srgbClr val="EF9F27"/>
                </a:solidFill>
                <a:latin typeface="Courier New" pitchFamily="34" charset="0"/>
                <a:ea typeface="Courier New" pitchFamily="34" charset="-122"/>
                <a:cs typeface="Courier New" pitchFamily="34" charset="-120"/>
              </a:rPr>
              <a:t>  case &lt;-time.After(5 * time.Minute):</a:t>
            </a:r>
            <a:endParaRPr lang="en-US" sz="1000" dirty="0"/>
          </a:p>
        </p:txBody>
      </p:sp>
      <p:sp>
        <p:nvSpPr>
          <p:cNvPr id="21" name="Text 19"/>
          <p:cNvSpPr/>
          <p:nvPr/>
        </p:nvSpPr>
        <p:spPr>
          <a:xfrm>
            <a:off x="502920" y="3708806"/>
            <a:ext cx="8138160" cy="169164"/>
          </a:xfrm>
          <a:prstGeom prst="rect">
            <a:avLst/>
          </a:prstGeom>
          <a:noFill/>
          <a:ln/>
        </p:spPr>
        <p:txBody>
          <a:bodyPr wrap="square"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    // Escalate to secondary on-call</a:t>
            </a:r>
            <a:endParaRPr lang="en-US" sz="1000" dirty="0"/>
          </a:p>
        </p:txBody>
      </p:sp>
      <p:sp>
        <p:nvSpPr>
          <p:cNvPr id="22" name="Text 20"/>
          <p:cNvSpPr/>
          <p:nvPr/>
        </p:nvSpPr>
        <p:spPr>
          <a:xfrm>
            <a:off x="502920" y="3871570"/>
            <a:ext cx="8138160" cy="169164"/>
          </a:xfrm>
          <a:prstGeom prst="rect">
            <a:avLst/>
          </a:prstGeom>
          <a:noFill/>
          <a:ln/>
        </p:spPr>
        <p:txBody>
          <a:bodyPr wrap="square" rtlCol="0" anchor="ctr"/>
          <a:lstStyle/>
          <a:p>
            <a:pPr indent="0" marL="0">
              <a:buNone/>
            </a:pPr>
            <a:r>
              <a:rPr lang="en-US" sz="1000" dirty="0">
                <a:solidFill>
                  <a:srgbClr val="EF9F27"/>
                </a:solidFill>
                <a:latin typeface="Courier New" pitchFamily="34" charset="0"/>
                <a:ea typeface="Courier New" pitchFamily="34" charset="-122"/>
                <a:cs typeface="Courier New" pitchFamily="34" charset="-120"/>
              </a:rPr>
              <a:t>    return false, "approval timeout — escalating", nil</a:t>
            </a:r>
            <a:endParaRPr lang="en-US" sz="1000" dirty="0"/>
          </a:p>
        </p:txBody>
      </p:sp>
      <p:sp>
        <p:nvSpPr>
          <p:cNvPr id="23" name="Text 21"/>
          <p:cNvSpPr/>
          <p:nvPr/>
        </p:nvSpPr>
        <p:spPr>
          <a:xfrm>
            <a:off x="502920" y="4034333"/>
            <a:ext cx="8138160" cy="169164"/>
          </a:xfrm>
          <a:prstGeom prst="rect">
            <a:avLst/>
          </a:prstGeom>
          <a:noFill/>
          <a:ln/>
        </p:spPr>
        <p:txBody>
          <a:bodyPr wrap="square" rtlCol="0" anchor="ctr"/>
          <a:lstStyle/>
          <a:p>
            <a:pPr indent="0" marL="0">
              <a:buNone/>
            </a:pPr>
            <a:endParaRPr lang="en-US" sz="1000" dirty="0"/>
          </a:p>
        </p:txBody>
      </p:sp>
      <p:sp>
        <p:nvSpPr>
          <p:cNvPr id="24" name="Text 22"/>
          <p:cNvSpPr/>
          <p:nvPr/>
        </p:nvSpPr>
        <p:spPr>
          <a:xfrm>
            <a:off x="502920" y="4197096"/>
            <a:ext cx="8138160" cy="169164"/>
          </a:xfrm>
          <a:prstGeom prst="rect">
            <a:avLst/>
          </a:prstGeom>
          <a:noFill/>
          <a:ln/>
        </p:spPr>
        <p:txBody>
          <a:bodyPr wrap="square" rtlCol="0" anchor="ctr"/>
          <a:lstStyle/>
          <a:p>
            <a:pPr indent="0" marL="0">
              <a:buNone/>
            </a:pPr>
            <a:r>
              <a:rPr lang="en-US" sz="1000" dirty="0">
                <a:solidFill>
                  <a:srgbClr val="E24B4A"/>
                </a:solidFill>
                <a:latin typeface="Courier New" pitchFamily="34" charset="0"/>
                <a:ea typeface="Courier New" pitchFamily="34" charset="-122"/>
                <a:cs typeface="Courier New" pitchFamily="34" charset="-120"/>
              </a:rPr>
              <a:t>  case &lt;-ctx.Done():</a:t>
            </a:r>
            <a:endParaRPr lang="en-US" sz="1000" dirty="0"/>
          </a:p>
        </p:txBody>
      </p:sp>
      <p:sp>
        <p:nvSpPr>
          <p:cNvPr id="25" name="Text 23"/>
          <p:cNvSpPr/>
          <p:nvPr/>
        </p:nvSpPr>
        <p:spPr>
          <a:xfrm>
            <a:off x="502920" y="4359859"/>
            <a:ext cx="8138160" cy="169164"/>
          </a:xfrm>
          <a:prstGeom prst="rect">
            <a:avLst/>
          </a:prstGeom>
          <a:noFill/>
          <a:ln/>
        </p:spPr>
        <p:txBody>
          <a:bodyPr wrap="square" rtlCol="0" anchor="ctr"/>
          <a:lstStyle/>
          <a:p>
            <a:pPr indent="0" marL="0">
              <a:buNone/>
            </a:pPr>
            <a:r>
              <a:rPr lang="en-US" sz="1000" dirty="0">
                <a:solidFill>
                  <a:srgbClr val="E24B4A"/>
                </a:solidFill>
                <a:latin typeface="Courier New" pitchFamily="34" charset="0"/>
                <a:ea typeface="Courier New" pitchFamily="34" charset="-122"/>
                <a:cs typeface="Courier New" pitchFamily="34" charset="-120"/>
              </a:rPr>
              <a:t>    return false, "", ctx.Err()</a:t>
            </a:r>
            <a:endParaRPr lang="en-US" sz="1000" dirty="0"/>
          </a:p>
        </p:txBody>
      </p:sp>
      <p:sp>
        <p:nvSpPr>
          <p:cNvPr id="26" name="Text 24"/>
          <p:cNvSpPr/>
          <p:nvPr/>
        </p:nvSpPr>
        <p:spPr>
          <a:xfrm>
            <a:off x="502920" y="4522622"/>
            <a:ext cx="8138160" cy="169164"/>
          </a:xfrm>
          <a:prstGeom prst="rect">
            <a:avLst/>
          </a:prstGeom>
          <a:noFill/>
          <a:ln/>
        </p:spPr>
        <p:txBody>
          <a:bodyPr wrap="square" rtlCol="0" anchor="ctr"/>
          <a:lstStyle/>
          <a:p>
            <a:pPr indent="0" marL="0">
              <a:buNone/>
            </a:pPr>
            <a:r>
              <a:rPr lang="en-US" sz="1000" dirty="0">
                <a:solidFill>
                  <a:srgbClr val="BC8CFF"/>
                </a:solidFill>
                <a:latin typeface="Courier New" pitchFamily="34" charset="0"/>
                <a:ea typeface="Courier New" pitchFamily="34" charset="-122"/>
                <a:cs typeface="Courier New" pitchFamily="34" charset="-120"/>
              </a:rPr>
              <a:t>  }</a:t>
            </a:r>
            <a:endParaRPr lang="en-US" sz="1000" dirty="0"/>
          </a:p>
        </p:txBody>
      </p:sp>
      <p:sp>
        <p:nvSpPr>
          <p:cNvPr id="27" name="Text 25"/>
          <p:cNvSpPr/>
          <p:nvPr/>
        </p:nvSpPr>
        <p:spPr>
          <a:xfrm>
            <a:off x="502920" y="4685386"/>
            <a:ext cx="8138160" cy="169164"/>
          </a:xfrm>
          <a:prstGeom prst="rect">
            <a:avLst/>
          </a:prstGeom>
          <a:noFill/>
          <a:ln/>
        </p:spPr>
        <p:txBody>
          <a:bodyPr wrap="square" rtlCol="0" anchor="ctr"/>
          <a:lstStyle/>
          <a:p>
            <a:pPr indent="0" marL="0">
              <a:buNone/>
            </a:pPr>
            <a:r>
              <a:rPr lang="en-US" sz="1000" dirty="0">
                <a:solidFill>
                  <a:srgbClr val="58A6FF"/>
                </a:solidFill>
                <a:latin typeface="Courier New" pitchFamily="34" charset="0"/>
                <a:ea typeface="Courier New" pitchFamily="34" charset="-122"/>
                <a:cs typeface="Courier New" pitchFamily="34" charset="-120"/>
              </a:rPr>
              <a:t>}</a:t>
            </a:r>
            <a:endParaRPr lang="en-US" sz="1000" dirty="0"/>
          </a:p>
        </p:txBody>
      </p:sp>
      <p:sp>
        <p:nvSpPr>
          <p:cNvPr id="28" name="Text 26"/>
          <p:cNvSpPr/>
          <p:nvPr/>
        </p:nvSpPr>
        <p:spPr>
          <a:xfrm>
            <a:off x="320040" y="4919472"/>
            <a:ext cx="8503920" cy="274320"/>
          </a:xfrm>
          <a:prstGeom prst="rect">
            <a:avLst/>
          </a:prstGeom>
          <a:noFill/>
          <a:ln/>
        </p:spPr>
        <p:txBody>
          <a:bodyPr wrap="square" rtlCol="0" anchor="ctr"/>
          <a:lstStyle/>
          <a:p>
            <a:pPr algn="ctr" indent="0" marL="0">
              <a:buNone/>
            </a:pPr>
            <a:r>
              <a:rPr lang="en-US" sz="1200" dirty="0">
                <a:solidFill>
                  <a:srgbClr val="EF9F27"/>
                </a:solidFill>
                <a:latin typeface="Calibri" pitchFamily="34" charset="0"/>
                <a:ea typeface="Calibri" pitchFamily="34" charset="-122"/>
                <a:cs typeface="Calibri" pitchFamily="34" charset="-120"/>
              </a:rPr>
              <a:t>Every approved action is recorded: who clicked it, when, and why. Full audit trail to SQLite.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640080" y="228600"/>
            <a:ext cx="7863840" cy="530352"/>
          </a:xfrm>
          <a:prstGeom prst="rect">
            <a:avLst/>
          </a:prstGeom>
          <a:noFill/>
          <a:ln/>
        </p:spPr>
        <p:txBody>
          <a:bodyPr wrap="square" rtlCol="0" anchor="ctr"/>
          <a:lstStyle/>
          <a:p>
            <a:pPr indent="0" marL="0">
              <a:buNone/>
            </a:pPr>
            <a:r>
              <a:rPr lang="en-US" sz="3000" b="1" dirty="0">
                <a:solidFill>
                  <a:srgbClr val="F0F6FC"/>
                </a:solidFill>
                <a:latin typeface="Cambria" pitchFamily="34" charset="0"/>
                <a:ea typeface="Cambria" pitchFamily="34" charset="-122"/>
                <a:cs typeface="Cambria" pitchFamily="34" charset="-120"/>
              </a:rPr>
              <a:t>What you're really building</a:t>
            </a:r>
            <a:endParaRPr lang="en-US" sz="3000" dirty="0"/>
          </a:p>
        </p:txBody>
      </p:sp>
      <p:sp>
        <p:nvSpPr>
          <p:cNvPr id="3" name="Text 1"/>
          <p:cNvSpPr/>
          <p:nvPr/>
        </p:nvSpPr>
        <p:spPr>
          <a:xfrm>
            <a:off x="457200" y="896112"/>
            <a:ext cx="3931920" cy="320040"/>
          </a:xfrm>
          <a:prstGeom prst="rect">
            <a:avLst/>
          </a:prstGeom>
          <a:noFill/>
          <a:ln/>
        </p:spPr>
        <p:txBody>
          <a:bodyPr wrap="square" rtlCol="0" anchor="ctr"/>
          <a:lstStyle/>
          <a:p>
            <a:pPr algn="ctr" indent="0" marL="0">
              <a:buNone/>
            </a:pPr>
            <a:r>
              <a:rPr lang="en-US" sz="1400" b="1" dirty="0">
                <a:solidFill>
                  <a:srgbClr val="E24B4A"/>
                </a:solidFill>
                <a:latin typeface="Calibri" pitchFamily="34" charset="0"/>
                <a:ea typeface="Calibri" pitchFamily="34" charset="-122"/>
                <a:cs typeface="Calibri" pitchFamily="34" charset="-120"/>
              </a:rPr>
              <a:t>Before</a:t>
            </a:r>
            <a:endParaRPr lang="en-US" sz="1400" dirty="0"/>
          </a:p>
        </p:txBody>
      </p:sp>
      <p:sp>
        <p:nvSpPr>
          <p:cNvPr id="4" name="Text 2"/>
          <p:cNvSpPr/>
          <p:nvPr/>
        </p:nvSpPr>
        <p:spPr>
          <a:xfrm>
            <a:off x="4754880" y="896112"/>
            <a:ext cx="3977640" cy="320040"/>
          </a:xfrm>
          <a:prstGeom prst="rect">
            <a:avLst/>
          </a:prstGeom>
          <a:noFill/>
          <a:ln/>
        </p:spPr>
        <p:txBody>
          <a:bodyPr wrap="square" rtlCol="0" anchor="ctr"/>
          <a:lstStyle/>
          <a:p>
            <a:pPr algn="ctr" indent="0" marL="0">
              <a:buNone/>
            </a:pPr>
            <a:r>
              <a:rPr lang="en-US" sz="1400" b="1" dirty="0">
                <a:solidFill>
                  <a:srgbClr val="39D353"/>
                </a:solidFill>
                <a:latin typeface="Calibri" pitchFamily="34" charset="0"/>
                <a:ea typeface="Calibri" pitchFamily="34" charset="-122"/>
                <a:cs typeface="Calibri" pitchFamily="34" charset="-120"/>
              </a:rPr>
              <a:t>After</a:t>
            </a:r>
            <a:endParaRPr lang="en-US" sz="1400" dirty="0"/>
          </a:p>
        </p:txBody>
      </p:sp>
      <p:sp>
        <p:nvSpPr>
          <p:cNvPr id="5" name="Shape 3"/>
          <p:cNvSpPr/>
          <p:nvPr/>
        </p:nvSpPr>
        <p:spPr>
          <a:xfrm>
            <a:off x="320040" y="1280160"/>
            <a:ext cx="3931920" cy="548640"/>
          </a:xfrm>
          <a:prstGeom prst="roundRect">
            <a:avLst>
              <a:gd name="adj" fmla="val 10000"/>
            </a:avLst>
          </a:prstGeom>
          <a:solidFill>
            <a:srgbClr val="0D1117"/>
          </a:solidFill>
          <a:ln w="6350">
            <a:solidFill>
              <a:srgbClr val="30363D"/>
            </a:solidFill>
            <a:prstDash val="solid"/>
          </a:ln>
        </p:spPr>
      </p:sp>
      <p:sp>
        <p:nvSpPr>
          <p:cNvPr id="6" name="Text 4"/>
          <p:cNvSpPr/>
          <p:nvPr/>
        </p:nvSpPr>
        <p:spPr>
          <a:xfrm>
            <a:off x="457200" y="1280160"/>
            <a:ext cx="3749040" cy="548640"/>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Engineer wakes at 2 AM</a:t>
            </a:r>
            <a:endParaRPr lang="en-US" sz="1150" dirty="0"/>
          </a:p>
        </p:txBody>
      </p:sp>
      <p:sp>
        <p:nvSpPr>
          <p:cNvPr id="7" name="Text 5"/>
          <p:cNvSpPr/>
          <p:nvPr/>
        </p:nvSpPr>
        <p:spPr>
          <a:xfrm>
            <a:off x="4251960" y="1280160"/>
            <a:ext cx="548640" cy="548640"/>
          </a:xfrm>
          <a:prstGeom prst="rect">
            <a:avLst/>
          </a:prstGeom>
          <a:noFill/>
          <a:ln/>
        </p:spPr>
        <p:txBody>
          <a:bodyPr wrap="square" rtlCol="0" anchor="ctr"/>
          <a:lstStyle/>
          <a:p>
            <a:pPr algn="ctr" indent="0" marL="0">
              <a:buNone/>
            </a:pPr>
            <a:r>
              <a:rPr lang="en-US" sz="1600" dirty="0">
                <a:solidFill>
                  <a:srgbClr val="8B949E"/>
                </a:solidFill>
              </a:rPr>
              <a:t>→</a:t>
            </a:r>
            <a:endParaRPr lang="en-US" sz="1600" dirty="0"/>
          </a:p>
        </p:txBody>
      </p:sp>
      <p:sp>
        <p:nvSpPr>
          <p:cNvPr id="8" name="Shape 6"/>
          <p:cNvSpPr/>
          <p:nvPr/>
        </p:nvSpPr>
        <p:spPr>
          <a:xfrm>
            <a:off x="4754880" y="1280160"/>
            <a:ext cx="3977640" cy="548640"/>
          </a:xfrm>
          <a:prstGeom prst="roundRect">
            <a:avLst>
              <a:gd name="adj" fmla="val 10000"/>
            </a:avLst>
          </a:prstGeom>
          <a:solidFill>
            <a:srgbClr val="0D1117"/>
          </a:solidFill>
          <a:ln w="6350">
            <a:solidFill>
              <a:srgbClr val="1D9E75"/>
            </a:solidFill>
            <a:prstDash val="solid"/>
          </a:ln>
        </p:spPr>
      </p:sp>
      <p:sp>
        <p:nvSpPr>
          <p:cNvPr id="9" name="Text 7"/>
          <p:cNvSpPr/>
          <p:nvPr/>
        </p:nvSpPr>
        <p:spPr>
          <a:xfrm>
            <a:off x="4892040" y="1280160"/>
            <a:ext cx="3794760" cy="548640"/>
          </a:xfrm>
          <a:prstGeom prst="rect">
            <a:avLst/>
          </a:prstGeom>
          <a:noFill/>
          <a:ln/>
        </p:spPr>
        <p:txBody>
          <a:bodyPr wrap="square" rtlCol="0" anchor="ctr"/>
          <a:lstStyle/>
          <a:p>
            <a:pPr indent="0" marL="0">
              <a:buNone/>
            </a:pPr>
            <a:r>
              <a:rPr lang="en-US" sz="1150" dirty="0">
                <a:solidFill>
                  <a:srgbClr val="F0F6FC"/>
                </a:solidFill>
                <a:latin typeface="Calibri" pitchFamily="34" charset="0"/>
                <a:ea typeface="Calibri" pitchFamily="34" charset="-122"/>
                <a:cs typeface="Calibri" pitchFamily="34" charset="-120"/>
              </a:rPr>
              <a:t>Agent wakes at 2 AM, engineer wakes to a briefing</a:t>
            </a:r>
            <a:endParaRPr lang="en-US" sz="1150" dirty="0"/>
          </a:p>
        </p:txBody>
      </p:sp>
      <p:sp>
        <p:nvSpPr>
          <p:cNvPr id="10" name="Shape 8"/>
          <p:cNvSpPr/>
          <p:nvPr/>
        </p:nvSpPr>
        <p:spPr>
          <a:xfrm>
            <a:off x="320040" y="1947672"/>
            <a:ext cx="3931920" cy="548640"/>
          </a:xfrm>
          <a:prstGeom prst="roundRect">
            <a:avLst>
              <a:gd name="adj" fmla="val 10000"/>
            </a:avLst>
          </a:prstGeom>
          <a:solidFill>
            <a:srgbClr val="0D1117"/>
          </a:solidFill>
          <a:ln w="6350">
            <a:solidFill>
              <a:srgbClr val="30363D"/>
            </a:solidFill>
            <a:prstDash val="solid"/>
          </a:ln>
        </p:spPr>
      </p:sp>
      <p:sp>
        <p:nvSpPr>
          <p:cNvPr id="11" name="Text 9"/>
          <p:cNvSpPr/>
          <p:nvPr/>
        </p:nvSpPr>
        <p:spPr>
          <a:xfrm>
            <a:off x="457200" y="1947672"/>
            <a:ext cx="3749040" cy="548640"/>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Engineer reads docs for 20 minutes</a:t>
            </a:r>
            <a:endParaRPr lang="en-US" sz="1150" dirty="0"/>
          </a:p>
        </p:txBody>
      </p:sp>
      <p:sp>
        <p:nvSpPr>
          <p:cNvPr id="12" name="Text 10"/>
          <p:cNvSpPr/>
          <p:nvPr/>
        </p:nvSpPr>
        <p:spPr>
          <a:xfrm>
            <a:off x="4251960" y="1947672"/>
            <a:ext cx="548640" cy="548640"/>
          </a:xfrm>
          <a:prstGeom prst="rect">
            <a:avLst/>
          </a:prstGeom>
          <a:noFill/>
          <a:ln/>
        </p:spPr>
        <p:txBody>
          <a:bodyPr wrap="square" rtlCol="0" anchor="ctr"/>
          <a:lstStyle/>
          <a:p>
            <a:pPr algn="ctr" indent="0" marL="0">
              <a:buNone/>
            </a:pPr>
            <a:r>
              <a:rPr lang="en-US" sz="1600" dirty="0">
                <a:solidFill>
                  <a:srgbClr val="8B949E"/>
                </a:solidFill>
              </a:rPr>
              <a:t>→</a:t>
            </a:r>
            <a:endParaRPr lang="en-US" sz="1600" dirty="0"/>
          </a:p>
        </p:txBody>
      </p:sp>
      <p:sp>
        <p:nvSpPr>
          <p:cNvPr id="13" name="Shape 11"/>
          <p:cNvSpPr/>
          <p:nvPr/>
        </p:nvSpPr>
        <p:spPr>
          <a:xfrm>
            <a:off x="4754880" y="1947672"/>
            <a:ext cx="3977640" cy="548640"/>
          </a:xfrm>
          <a:prstGeom prst="roundRect">
            <a:avLst>
              <a:gd name="adj" fmla="val 10000"/>
            </a:avLst>
          </a:prstGeom>
          <a:solidFill>
            <a:srgbClr val="0D1117"/>
          </a:solidFill>
          <a:ln w="6350">
            <a:solidFill>
              <a:srgbClr val="1D9E75"/>
            </a:solidFill>
            <a:prstDash val="solid"/>
          </a:ln>
        </p:spPr>
      </p:sp>
      <p:sp>
        <p:nvSpPr>
          <p:cNvPr id="14" name="Text 12"/>
          <p:cNvSpPr/>
          <p:nvPr/>
        </p:nvSpPr>
        <p:spPr>
          <a:xfrm>
            <a:off x="4892040" y="1947672"/>
            <a:ext cx="3794760" cy="548640"/>
          </a:xfrm>
          <a:prstGeom prst="rect">
            <a:avLst/>
          </a:prstGeom>
          <a:noFill/>
          <a:ln/>
        </p:spPr>
        <p:txBody>
          <a:bodyPr wrap="square" rtlCol="0" anchor="ctr"/>
          <a:lstStyle/>
          <a:p>
            <a:pPr indent="0" marL="0">
              <a:buNone/>
            </a:pPr>
            <a:r>
              <a:rPr lang="en-US" sz="1150" dirty="0">
                <a:solidFill>
                  <a:srgbClr val="F0F6FC"/>
                </a:solidFill>
                <a:latin typeface="Calibri" pitchFamily="34" charset="0"/>
                <a:ea typeface="Calibri" pitchFamily="34" charset="-122"/>
                <a:cs typeface="Calibri" pitchFamily="34" charset="-120"/>
              </a:rPr>
              <a:t>Agent reads 10,000 log lines in 3 seconds</a:t>
            </a:r>
            <a:endParaRPr lang="en-US" sz="1150" dirty="0"/>
          </a:p>
        </p:txBody>
      </p:sp>
      <p:sp>
        <p:nvSpPr>
          <p:cNvPr id="15" name="Shape 13"/>
          <p:cNvSpPr/>
          <p:nvPr/>
        </p:nvSpPr>
        <p:spPr>
          <a:xfrm>
            <a:off x="320040" y="2615184"/>
            <a:ext cx="3931920" cy="548640"/>
          </a:xfrm>
          <a:prstGeom prst="roundRect">
            <a:avLst>
              <a:gd name="adj" fmla="val 10000"/>
            </a:avLst>
          </a:prstGeom>
          <a:solidFill>
            <a:srgbClr val="0D1117"/>
          </a:solidFill>
          <a:ln w="6350">
            <a:solidFill>
              <a:srgbClr val="30363D"/>
            </a:solidFill>
            <a:prstDash val="solid"/>
          </a:ln>
        </p:spPr>
      </p:sp>
      <p:sp>
        <p:nvSpPr>
          <p:cNvPr id="16" name="Text 14"/>
          <p:cNvSpPr/>
          <p:nvPr/>
        </p:nvSpPr>
        <p:spPr>
          <a:xfrm>
            <a:off x="457200" y="2615184"/>
            <a:ext cx="3749040" cy="548640"/>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Engineer runs commands, hopes for the best</a:t>
            </a:r>
            <a:endParaRPr lang="en-US" sz="1150" dirty="0"/>
          </a:p>
        </p:txBody>
      </p:sp>
      <p:sp>
        <p:nvSpPr>
          <p:cNvPr id="17" name="Text 15"/>
          <p:cNvSpPr/>
          <p:nvPr/>
        </p:nvSpPr>
        <p:spPr>
          <a:xfrm>
            <a:off x="4251960" y="2615184"/>
            <a:ext cx="548640" cy="548640"/>
          </a:xfrm>
          <a:prstGeom prst="rect">
            <a:avLst/>
          </a:prstGeom>
          <a:noFill/>
          <a:ln/>
        </p:spPr>
        <p:txBody>
          <a:bodyPr wrap="square" rtlCol="0" anchor="ctr"/>
          <a:lstStyle/>
          <a:p>
            <a:pPr algn="ctr" indent="0" marL="0">
              <a:buNone/>
            </a:pPr>
            <a:r>
              <a:rPr lang="en-US" sz="1600" dirty="0">
                <a:solidFill>
                  <a:srgbClr val="8B949E"/>
                </a:solidFill>
              </a:rPr>
              <a:t>→</a:t>
            </a:r>
            <a:endParaRPr lang="en-US" sz="1600" dirty="0"/>
          </a:p>
        </p:txBody>
      </p:sp>
      <p:sp>
        <p:nvSpPr>
          <p:cNvPr id="18" name="Shape 16"/>
          <p:cNvSpPr/>
          <p:nvPr/>
        </p:nvSpPr>
        <p:spPr>
          <a:xfrm>
            <a:off x="4754880" y="2615184"/>
            <a:ext cx="3977640" cy="548640"/>
          </a:xfrm>
          <a:prstGeom prst="roundRect">
            <a:avLst>
              <a:gd name="adj" fmla="val 10000"/>
            </a:avLst>
          </a:prstGeom>
          <a:solidFill>
            <a:srgbClr val="0D1117"/>
          </a:solidFill>
          <a:ln w="6350">
            <a:solidFill>
              <a:srgbClr val="1D9E75"/>
            </a:solidFill>
            <a:prstDash val="solid"/>
          </a:ln>
        </p:spPr>
      </p:sp>
      <p:sp>
        <p:nvSpPr>
          <p:cNvPr id="19" name="Text 17"/>
          <p:cNvSpPr/>
          <p:nvPr/>
        </p:nvSpPr>
        <p:spPr>
          <a:xfrm>
            <a:off x="4892040" y="2615184"/>
            <a:ext cx="3794760" cy="548640"/>
          </a:xfrm>
          <a:prstGeom prst="rect">
            <a:avLst/>
          </a:prstGeom>
          <a:noFill/>
          <a:ln/>
        </p:spPr>
        <p:txBody>
          <a:bodyPr wrap="square" rtlCol="0" anchor="ctr"/>
          <a:lstStyle/>
          <a:p>
            <a:pPr indent="0" marL="0">
              <a:buNone/>
            </a:pPr>
            <a:r>
              <a:rPr lang="en-US" sz="1150" dirty="0">
                <a:solidFill>
                  <a:srgbClr val="F0F6FC"/>
                </a:solidFill>
                <a:latin typeface="Calibri" pitchFamily="34" charset="0"/>
                <a:ea typeface="Calibri" pitchFamily="34" charset="-122"/>
                <a:cs typeface="Calibri" pitchFamily="34" charset="-120"/>
              </a:rPr>
              <a:t>Agent proposes action with 94% confidence + blast radius</a:t>
            </a:r>
            <a:endParaRPr lang="en-US" sz="1150" dirty="0"/>
          </a:p>
        </p:txBody>
      </p:sp>
      <p:sp>
        <p:nvSpPr>
          <p:cNvPr id="20" name="Shape 18"/>
          <p:cNvSpPr/>
          <p:nvPr/>
        </p:nvSpPr>
        <p:spPr>
          <a:xfrm>
            <a:off x="320040" y="3282696"/>
            <a:ext cx="3931920" cy="548640"/>
          </a:xfrm>
          <a:prstGeom prst="roundRect">
            <a:avLst>
              <a:gd name="adj" fmla="val 10000"/>
            </a:avLst>
          </a:prstGeom>
          <a:solidFill>
            <a:srgbClr val="0D1117"/>
          </a:solidFill>
          <a:ln w="6350">
            <a:solidFill>
              <a:srgbClr val="30363D"/>
            </a:solidFill>
            <a:prstDash val="solid"/>
          </a:ln>
        </p:spPr>
      </p:sp>
      <p:sp>
        <p:nvSpPr>
          <p:cNvPr id="21" name="Text 19"/>
          <p:cNvSpPr/>
          <p:nvPr/>
        </p:nvSpPr>
        <p:spPr>
          <a:xfrm>
            <a:off x="457200" y="3282696"/>
            <a:ext cx="3749040" cy="548640"/>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If wrong: debug, repeat, SLA breached</a:t>
            </a:r>
            <a:endParaRPr lang="en-US" sz="1150" dirty="0"/>
          </a:p>
        </p:txBody>
      </p:sp>
      <p:sp>
        <p:nvSpPr>
          <p:cNvPr id="22" name="Text 20"/>
          <p:cNvSpPr/>
          <p:nvPr/>
        </p:nvSpPr>
        <p:spPr>
          <a:xfrm>
            <a:off x="4251960" y="3282696"/>
            <a:ext cx="548640" cy="548640"/>
          </a:xfrm>
          <a:prstGeom prst="rect">
            <a:avLst/>
          </a:prstGeom>
          <a:noFill/>
          <a:ln/>
        </p:spPr>
        <p:txBody>
          <a:bodyPr wrap="square" rtlCol="0" anchor="ctr"/>
          <a:lstStyle/>
          <a:p>
            <a:pPr algn="ctr" indent="0" marL="0">
              <a:buNone/>
            </a:pPr>
            <a:r>
              <a:rPr lang="en-US" sz="1600" dirty="0">
                <a:solidFill>
                  <a:srgbClr val="8B949E"/>
                </a:solidFill>
              </a:rPr>
              <a:t>→</a:t>
            </a:r>
            <a:endParaRPr lang="en-US" sz="1600" dirty="0"/>
          </a:p>
        </p:txBody>
      </p:sp>
      <p:sp>
        <p:nvSpPr>
          <p:cNvPr id="23" name="Shape 21"/>
          <p:cNvSpPr/>
          <p:nvPr/>
        </p:nvSpPr>
        <p:spPr>
          <a:xfrm>
            <a:off x="4754880" y="3282696"/>
            <a:ext cx="3977640" cy="548640"/>
          </a:xfrm>
          <a:prstGeom prst="roundRect">
            <a:avLst>
              <a:gd name="adj" fmla="val 10000"/>
            </a:avLst>
          </a:prstGeom>
          <a:solidFill>
            <a:srgbClr val="0D1117"/>
          </a:solidFill>
          <a:ln w="6350">
            <a:solidFill>
              <a:srgbClr val="1D9E75"/>
            </a:solidFill>
            <a:prstDash val="solid"/>
          </a:ln>
        </p:spPr>
      </p:sp>
      <p:sp>
        <p:nvSpPr>
          <p:cNvPr id="24" name="Text 22"/>
          <p:cNvSpPr/>
          <p:nvPr/>
        </p:nvSpPr>
        <p:spPr>
          <a:xfrm>
            <a:off x="4892040" y="3282696"/>
            <a:ext cx="3794760" cy="548640"/>
          </a:xfrm>
          <a:prstGeom prst="rect">
            <a:avLst/>
          </a:prstGeom>
          <a:noFill/>
          <a:ln/>
        </p:spPr>
        <p:txBody>
          <a:bodyPr wrap="square" rtlCol="0" anchor="ctr"/>
          <a:lstStyle/>
          <a:p>
            <a:pPr indent="0" marL="0">
              <a:buNone/>
            </a:pPr>
            <a:r>
              <a:rPr lang="en-US" sz="1150" dirty="0">
                <a:solidFill>
                  <a:srgbClr val="F0F6FC"/>
                </a:solidFill>
                <a:latin typeface="Calibri" pitchFamily="34" charset="0"/>
                <a:ea typeface="Calibri" pitchFamily="34" charset="-122"/>
                <a:cs typeface="Calibri" pitchFamily="34" charset="-120"/>
              </a:rPr>
              <a:t>Auto-rollback on health check failure, SLA met</a:t>
            </a:r>
            <a:endParaRPr lang="en-US" sz="1150" dirty="0"/>
          </a:p>
        </p:txBody>
      </p:sp>
      <p:sp>
        <p:nvSpPr>
          <p:cNvPr id="25" name="Shape 23"/>
          <p:cNvSpPr/>
          <p:nvPr/>
        </p:nvSpPr>
        <p:spPr>
          <a:xfrm>
            <a:off x="320040" y="3950208"/>
            <a:ext cx="3931920" cy="548640"/>
          </a:xfrm>
          <a:prstGeom prst="roundRect">
            <a:avLst>
              <a:gd name="adj" fmla="val 10000"/>
            </a:avLst>
          </a:prstGeom>
          <a:solidFill>
            <a:srgbClr val="0D1117"/>
          </a:solidFill>
          <a:ln w="6350">
            <a:solidFill>
              <a:srgbClr val="30363D"/>
            </a:solidFill>
            <a:prstDash val="solid"/>
          </a:ln>
        </p:spPr>
      </p:sp>
      <p:sp>
        <p:nvSpPr>
          <p:cNvPr id="26" name="Text 24"/>
          <p:cNvSpPr/>
          <p:nvPr/>
        </p:nvSpPr>
        <p:spPr>
          <a:xfrm>
            <a:off x="457200" y="3950208"/>
            <a:ext cx="3749040" cy="548640"/>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No audit trail. Post-mortem from memory.</a:t>
            </a:r>
            <a:endParaRPr lang="en-US" sz="1150" dirty="0"/>
          </a:p>
        </p:txBody>
      </p:sp>
      <p:sp>
        <p:nvSpPr>
          <p:cNvPr id="27" name="Text 25"/>
          <p:cNvSpPr/>
          <p:nvPr/>
        </p:nvSpPr>
        <p:spPr>
          <a:xfrm>
            <a:off x="4251960" y="3950208"/>
            <a:ext cx="548640" cy="548640"/>
          </a:xfrm>
          <a:prstGeom prst="rect">
            <a:avLst/>
          </a:prstGeom>
          <a:noFill/>
          <a:ln/>
        </p:spPr>
        <p:txBody>
          <a:bodyPr wrap="square" rtlCol="0" anchor="ctr"/>
          <a:lstStyle/>
          <a:p>
            <a:pPr algn="ctr" indent="0" marL="0">
              <a:buNone/>
            </a:pPr>
            <a:r>
              <a:rPr lang="en-US" sz="1600" dirty="0">
                <a:solidFill>
                  <a:srgbClr val="8B949E"/>
                </a:solidFill>
              </a:rPr>
              <a:t>→</a:t>
            </a:r>
            <a:endParaRPr lang="en-US" sz="1600" dirty="0"/>
          </a:p>
        </p:txBody>
      </p:sp>
      <p:sp>
        <p:nvSpPr>
          <p:cNvPr id="28" name="Shape 26"/>
          <p:cNvSpPr/>
          <p:nvPr/>
        </p:nvSpPr>
        <p:spPr>
          <a:xfrm>
            <a:off x="4754880" y="3950208"/>
            <a:ext cx="3977640" cy="548640"/>
          </a:xfrm>
          <a:prstGeom prst="roundRect">
            <a:avLst>
              <a:gd name="adj" fmla="val 10000"/>
            </a:avLst>
          </a:prstGeom>
          <a:solidFill>
            <a:srgbClr val="0D1117"/>
          </a:solidFill>
          <a:ln w="6350">
            <a:solidFill>
              <a:srgbClr val="1D9E75"/>
            </a:solidFill>
            <a:prstDash val="solid"/>
          </a:ln>
        </p:spPr>
      </p:sp>
      <p:sp>
        <p:nvSpPr>
          <p:cNvPr id="29" name="Text 27"/>
          <p:cNvSpPr/>
          <p:nvPr/>
        </p:nvSpPr>
        <p:spPr>
          <a:xfrm>
            <a:off x="4892040" y="3950208"/>
            <a:ext cx="3794760" cy="548640"/>
          </a:xfrm>
          <a:prstGeom prst="rect">
            <a:avLst/>
          </a:prstGeom>
          <a:noFill/>
          <a:ln/>
        </p:spPr>
        <p:txBody>
          <a:bodyPr wrap="square" rtlCol="0" anchor="ctr"/>
          <a:lstStyle/>
          <a:p>
            <a:pPr indent="0" marL="0">
              <a:buNone/>
            </a:pPr>
            <a:r>
              <a:rPr lang="en-US" sz="1150" dirty="0">
                <a:solidFill>
                  <a:srgbClr val="F0F6FC"/>
                </a:solidFill>
                <a:latin typeface="Calibri" pitchFamily="34" charset="0"/>
                <a:ea typeface="Calibri" pitchFamily="34" charset="-122"/>
                <a:cs typeface="Calibri" pitchFamily="34" charset="-120"/>
              </a:rPr>
              <a:t>Full attribution: who approved what, when, why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201168"/>
            <a:ext cx="7863840" cy="530352"/>
          </a:xfrm>
          <a:prstGeom prst="rect">
            <a:avLst/>
          </a:prstGeom>
          <a:noFill/>
          <a:ln/>
        </p:spPr>
        <p:txBody>
          <a:bodyPr wrap="square" rtlCol="0" anchor="ctr"/>
          <a:lstStyle/>
          <a:p>
            <a:pPr indent="0" marL="0">
              <a:buNone/>
            </a:pPr>
            <a:r>
              <a:rPr lang="en-US" sz="3200" b="1" dirty="0">
                <a:solidFill>
                  <a:srgbClr val="F0F6FC"/>
                </a:solidFill>
                <a:latin typeface="Cambria" pitchFamily="34" charset="0"/>
                <a:ea typeface="Cambria" pitchFamily="34" charset="-122"/>
                <a:cs typeface="Cambria" pitchFamily="34" charset="-120"/>
              </a:rPr>
              <a:t>Start this week</a:t>
            </a:r>
            <a:endParaRPr lang="en-US" sz="3200" dirty="0"/>
          </a:p>
        </p:txBody>
      </p:sp>
      <p:sp>
        <p:nvSpPr>
          <p:cNvPr id="3" name="Shape 1"/>
          <p:cNvSpPr/>
          <p:nvPr/>
        </p:nvSpPr>
        <p:spPr>
          <a:xfrm>
            <a:off x="320040" y="896112"/>
            <a:ext cx="8503920" cy="822960"/>
          </a:xfrm>
          <a:prstGeom prst="roundRect">
            <a:avLst>
              <a:gd name="adj" fmla="val 8889"/>
            </a:avLst>
          </a:prstGeom>
          <a:solidFill>
            <a:srgbClr val="161B22"/>
          </a:solidFill>
          <a:ln w="6350">
            <a:solidFill>
              <a:srgbClr val="30363D"/>
            </a:solidFill>
            <a:prstDash val="solid"/>
          </a:ln>
        </p:spPr>
      </p:sp>
      <p:sp>
        <p:nvSpPr>
          <p:cNvPr id="4" name="Text 2"/>
          <p:cNvSpPr/>
          <p:nvPr/>
        </p:nvSpPr>
        <p:spPr>
          <a:xfrm>
            <a:off x="411480" y="896112"/>
            <a:ext cx="731520" cy="822960"/>
          </a:xfrm>
          <a:prstGeom prst="rect">
            <a:avLst/>
          </a:prstGeom>
          <a:noFill/>
          <a:ln/>
        </p:spPr>
        <p:txBody>
          <a:bodyPr wrap="square" rtlCol="0" anchor="ctr"/>
          <a:lstStyle/>
          <a:p>
            <a:pPr algn="ctr" indent="0" marL="0">
              <a:buNone/>
            </a:pPr>
            <a:r>
              <a:rPr lang="en-US" sz="2200" b="1" dirty="0">
                <a:solidFill>
                  <a:srgbClr val="EF9F27"/>
                </a:solidFill>
                <a:latin typeface="Cambria" pitchFamily="34" charset="0"/>
                <a:ea typeface="Cambria" pitchFamily="34" charset="-122"/>
                <a:cs typeface="Cambria" pitchFamily="34" charset="-120"/>
              </a:rPr>
              <a:t>01</a:t>
            </a:r>
            <a:endParaRPr lang="en-US" sz="2200" dirty="0"/>
          </a:p>
        </p:txBody>
      </p:sp>
      <p:sp>
        <p:nvSpPr>
          <p:cNvPr id="5" name="Text 3"/>
          <p:cNvSpPr/>
          <p:nvPr/>
        </p:nvSpPr>
        <p:spPr>
          <a:xfrm>
            <a:off x="1188720" y="941832"/>
            <a:ext cx="7269480" cy="329184"/>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Audit your worst runbook</a:t>
            </a:r>
            <a:endParaRPr lang="en-US" sz="1400" dirty="0"/>
          </a:p>
        </p:txBody>
      </p:sp>
      <p:sp>
        <p:nvSpPr>
          <p:cNvPr id="6" name="Text 4"/>
          <p:cNvSpPr/>
          <p:nvPr/>
        </p:nvSpPr>
        <p:spPr>
          <a:xfrm>
            <a:off x="1188720" y="1298448"/>
            <a:ext cx="7269480" cy="347472"/>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Find the one your team dreads — most steps, most assumptions, most outdated commands. That's your pilot. No AI yet.</a:t>
            </a:r>
            <a:endParaRPr lang="en-US" sz="1150" dirty="0"/>
          </a:p>
        </p:txBody>
      </p:sp>
      <p:sp>
        <p:nvSpPr>
          <p:cNvPr id="7" name="Shape 5"/>
          <p:cNvSpPr/>
          <p:nvPr/>
        </p:nvSpPr>
        <p:spPr>
          <a:xfrm>
            <a:off x="320040" y="1856232"/>
            <a:ext cx="8503920" cy="822960"/>
          </a:xfrm>
          <a:prstGeom prst="roundRect">
            <a:avLst>
              <a:gd name="adj" fmla="val 8889"/>
            </a:avLst>
          </a:prstGeom>
          <a:solidFill>
            <a:srgbClr val="161B22"/>
          </a:solidFill>
          <a:ln w="6350">
            <a:solidFill>
              <a:srgbClr val="30363D"/>
            </a:solidFill>
            <a:prstDash val="solid"/>
          </a:ln>
        </p:spPr>
      </p:sp>
      <p:sp>
        <p:nvSpPr>
          <p:cNvPr id="8" name="Text 6"/>
          <p:cNvSpPr/>
          <p:nvPr/>
        </p:nvSpPr>
        <p:spPr>
          <a:xfrm>
            <a:off x="411480" y="1856232"/>
            <a:ext cx="731520" cy="822960"/>
          </a:xfrm>
          <a:prstGeom prst="rect">
            <a:avLst/>
          </a:prstGeom>
          <a:noFill/>
          <a:ln/>
        </p:spPr>
        <p:txBody>
          <a:bodyPr wrap="square" rtlCol="0" anchor="ctr"/>
          <a:lstStyle/>
          <a:p>
            <a:pPr algn="ctr" indent="0" marL="0">
              <a:buNone/>
            </a:pPr>
            <a:r>
              <a:rPr lang="en-US" sz="2200" b="1" dirty="0">
                <a:solidFill>
                  <a:srgbClr val="58A6FF"/>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1188720" y="1901952"/>
            <a:ext cx="7269480" cy="329184"/>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Convert it to YAML (2-4 hours)</a:t>
            </a:r>
            <a:endParaRPr lang="en-US" sz="1400" dirty="0"/>
          </a:p>
        </p:txBody>
      </p:sp>
      <p:sp>
        <p:nvSpPr>
          <p:cNvPr id="10" name="Text 8"/>
          <p:cNvSpPr/>
          <p:nvPr/>
        </p:nvSpPr>
        <p:spPr>
          <a:xfrm>
            <a:off x="1188720" y="2258568"/>
            <a:ext cx="7269480" cy="347472"/>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Type each step: name, command, read_only, requires_approval. Encoding the structure alone is 10× better than markdown.</a:t>
            </a:r>
            <a:endParaRPr lang="en-US" sz="1150" dirty="0"/>
          </a:p>
        </p:txBody>
      </p:sp>
      <p:sp>
        <p:nvSpPr>
          <p:cNvPr id="11" name="Shape 9"/>
          <p:cNvSpPr/>
          <p:nvPr/>
        </p:nvSpPr>
        <p:spPr>
          <a:xfrm>
            <a:off x="320040" y="2816352"/>
            <a:ext cx="8503920" cy="822960"/>
          </a:xfrm>
          <a:prstGeom prst="roundRect">
            <a:avLst>
              <a:gd name="adj" fmla="val 8889"/>
            </a:avLst>
          </a:prstGeom>
          <a:solidFill>
            <a:srgbClr val="161B22"/>
          </a:solidFill>
          <a:ln w="6350">
            <a:solidFill>
              <a:srgbClr val="30363D"/>
            </a:solidFill>
            <a:prstDash val="solid"/>
          </a:ln>
        </p:spPr>
      </p:sp>
      <p:sp>
        <p:nvSpPr>
          <p:cNvPr id="12" name="Text 10"/>
          <p:cNvSpPr/>
          <p:nvPr/>
        </p:nvSpPr>
        <p:spPr>
          <a:xfrm>
            <a:off x="411480" y="2816352"/>
            <a:ext cx="731520" cy="822960"/>
          </a:xfrm>
          <a:prstGeom prst="rect">
            <a:avLst/>
          </a:prstGeom>
          <a:noFill/>
          <a:ln/>
        </p:spPr>
        <p:txBody>
          <a:bodyPr wrap="square" rtlCol="0" anchor="ctr"/>
          <a:lstStyle/>
          <a:p>
            <a:pPr algn="ctr" indent="0" marL="0">
              <a:buNone/>
            </a:pPr>
            <a:r>
              <a:rPr lang="en-US" sz="2200" b="1" dirty="0">
                <a:solidFill>
                  <a:srgbClr val="39D353"/>
                </a:solidFill>
                <a:latin typeface="Cambria" pitchFamily="34" charset="0"/>
                <a:ea typeface="Cambria" pitchFamily="34" charset="-122"/>
                <a:cs typeface="Cambria" pitchFamily="34" charset="-120"/>
              </a:rPr>
              <a:t>03</a:t>
            </a:r>
            <a:endParaRPr lang="en-US" sz="2200" dirty="0"/>
          </a:p>
        </p:txBody>
      </p:sp>
      <p:sp>
        <p:nvSpPr>
          <p:cNvPr id="13" name="Text 11"/>
          <p:cNvSpPr/>
          <p:nvPr/>
        </p:nvSpPr>
        <p:spPr>
          <a:xfrm>
            <a:off x="1188720" y="2862072"/>
            <a:ext cx="7269480" cy="329184"/>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Add Genkit Go + read-only tools (2-3 hours)</a:t>
            </a:r>
            <a:endParaRPr lang="en-US" sz="1400" dirty="0"/>
          </a:p>
        </p:txBody>
      </p:sp>
      <p:sp>
        <p:nvSpPr>
          <p:cNvPr id="14" name="Text 12"/>
          <p:cNvSpPr/>
          <p:nvPr/>
        </p:nvSpPr>
        <p:spPr>
          <a:xfrm>
            <a:off x="1188720" y="3218688"/>
            <a:ext cx="7269480" cy="347472"/>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Wire kubectl logs, curl, redis-cli info. All read-only. Run against a staging incident. See what Gemini finds.</a:t>
            </a:r>
            <a:endParaRPr lang="en-US" sz="1150" dirty="0"/>
          </a:p>
        </p:txBody>
      </p:sp>
      <p:sp>
        <p:nvSpPr>
          <p:cNvPr id="15" name="Shape 13"/>
          <p:cNvSpPr/>
          <p:nvPr/>
        </p:nvSpPr>
        <p:spPr>
          <a:xfrm>
            <a:off x="320040" y="3776472"/>
            <a:ext cx="8503920" cy="822960"/>
          </a:xfrm>
          <a:prstGeom prst="roundRect">
            <a:avLst>
              <a:gd name="adj" fmla="val 8889"/>
            </a:avLst>
          </a:prstGeom>
          <a:solidFill>
            <a:srgbClr val="161B22"/>
          </a:solidFill>
          <a:ln w="6350">
            <a:solidFill>
              <a:srgbClr val="30363D"/>
            </a:solidFill>
            <a:prstDash val="solid"/>
          </a:ln>
        </p:spPr>
      </p:sp>
      <p:sp>
        <p:nvSpPr>
          <p:cNvPr id="16" name="Text 14"/>
          <p:cNvSpPr/>
          <p:nvPr/>
        </p:nvSpPr>
        <p:spPr>
          <a:xfrm>
            <a:off x="411480" y="3776472"/>
            <a:ext cx="731520" cy="822960"/>
          </a:xfrm>
          <a:prstGeom prst="rect">
            <a:avLst/>
          </a:prstGeom>
          <a:noFill/>
          <a:ln/>
        </p:spPr>
        <p:txBody>
          <a:bodyPr wrap="square" rtlCol="0" anchor="ctr"/>
          <a:lstStyle/>
          <a:p>
            <a:pPr algn="ctr" indent="0" marL="0">
              <a:buNone/>
            </a:pPr>
            <a:r>
              <a:rPr lang="en-US" sz="2200" b="1" dirty="0">
                <a:solidFill>
                  <a:srgbClr val="BC8CFF"/>
                </a:solidFill>
                <a:latin typeface="Cambria" pitchFamily="34" charset="0"/>
                <a:ea typeface="Cambria" pitchFamily="34" charset="-122"/>
                <a:cs typeface="Cambria" pitchFamily="34" charset="-120"/>
              </a:rPr>
              <a:t>04</a:t>
            </a:r>
            <a:endParaRPr lang="en-US" sz="2200" dirty="0"/>
          </a:p>
        </p:txBody>
      </p:sp>
      <p:sp>
        <p:nvSpPr>
          <p:cNvPr id="17" name="Text 15"/>
          <p:cNvSpPr/>
          <p:nvPr/>
        </p:nvSpPr>
        <p:spPr>
          <a:xfrm>
            <a:off x="1188720" y="3822192"/>
            <a:ext cx="7269480" cy="329184"/>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Build the approval UI (4-6 hours)</a:t>
            </a:r>
            <a:endParaRPr lang="en-US" sz="1400" dirty="0"/>
          </a:p>
        </p:txBody>
      </p:sp>
      <p:sp>
        <p:nvSpPr>
          <p:cNvPr id="18" name="Text 16"/>
          <p:cNvSpPr/>
          <p:nvPr/>
        </p:nvSpPr>
        <p:spPr>
          <a:xfrm>
            <a:off x="1188720" y="4178808"/>
            <a:ext cx="7269480" cy="347472"/>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React + Go HTTP server + WebSocket. GET /api/approvals for the queue, POST /api/approvals/:id/approve to unblock the channel.</a:t>
            </a:r>
            <a:endParaRPr lang="en-US" sz="1150" dirty="0"/>
          </a:p>
        </p:txBody>
      </p:sp>
      <p:sp>
        <p:nvSpPr>
          <p:cNvPr id="19" name="Text 17"/>
          <p:cNvSpPr/>
          <p:nvPr/>
        </p:nvSpPr>
        <p:spPr>
          <a:xfrm>
            <a:off x="320040" y="4800600"/>
            <a:ext cx="8503920" cy="292608"/>
          </a:xfrm>
          <a:prstGeom prst="rect">
            <a:avLst/>
          </a:prstGeom>
          <a:noFill/>
          <a:ln/>
        </p:spPr>
        <p:txBody>
          <a:bodyPr wrap="square" rtlCol="0" anchor="ctr"/>
          <a:lstStyle/>
          <a:p>
            <a:pPr algn="ctr" indent="0" marL="0">
              <a:buNone/>
            </a:pPr>
            <a:r>
              <a:rPr lang="en-US" sz="1200" i="1" dirty="0">
                <a:solidFill>
                  <a:srgbClr val="8B949E"/>
                </a:solidFill>
                <a:latin typeface="Calibri" pitchFamily="34" charset="0"/>
                <a:ea typeface="Calibri" pitchFamily="34" charset="-122"/>
                <a:cs typeface="Calibri" pitchFamily="34" charset="-120"/>
              </a:rPr>
              <a:t>By next Friday: one real runbook, fully automated, human-approved, audit-trailed. Ship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411480"/>
            <a:ext cx="7863840" cy="2011680"/>
          </a:xfrm>
          <a:prstGeom prst="rect">
            <a:avLst/>
          </a:prstGeom>
          <a:noFill/>
          <a:ln/>
        </p:spPr>
        <p:txBody>
          <a:bodyPr wrap="square" rtlCol="0" anchor="ctr"/>
          <a:lstStyle/>
          <a:p>
            <a:pPr indent="0" marL="0">
              <a:buNone/>
            </a:pPr>
            <a:r>
              <a:rPr lang="en-US" sz="4800" b="1" dirty="0">
                <a:solidFill>
                  <a:srgbClr val="F0F6FC"/>
                </a:solidFill>
                <a:latin typeface="Cambria" pitchFamily="34" charset="0"/>
                <a:ea typeface="Cambria" pitchFamily="34" charset="-122"/>
                <a:cs typeface="Cambria" pitchFamily="34" charset="-120"/>
              </a:rPr>
              <a:t>Your runbook is not</a:t>
            </a:r>
            <a:endParaRPr lang="en-US" sz="4800" dirty="0"/>
          </a:p>
          <a:p>
            <a:pPr indent="0" marL="0">
              <a:buNone/>
            </a:pPr>
            <a:r>
              <a:rPr lang="en-US" sz="4800" b="1" dirty="0">
                <a:solidFill>
                  <a:srgbClr val="F0F6FC"/>
                </a:solidFill>
                <a:latin typeface="Cambria" pitchFamily="34" charset="0"/>
                <a:ea typeface="Cambria" pitchFamily="34" charset="-122"/>
                <a:cs typeface="Cambria" pitchFamily="34" charset="-120"/>
              </a:rPr>
              <a:t>a markdown file.</a:t>
            </a:r>
            <a:endParaRPr lang="en-US" sz="4800" dirty="0"/>
          </a:p>
        </p:txBody>
      </p:sp>
      <p:sp>
        <p:nvSpPr>
          <p:cNvPr id="3" name="Text 1"/>
          <p:cNvSpPr/>
          <p:nvPr/>
        </p:nvSpPr>
        <p:spPr>
          <a:xfrm>
            <a:off x="640080" y="2468880"/>
            <a:ext cx="7863840" cy="1188720"/>
          </a:xfrm>
          <a:prstGeom prst="rect">
            <a:avLst/>
          </a:prstGeom>
          <a:noFill/>
          <a:ln/>
        </p:spPr>
        <p:txBody>
          <a:bodyPr wrap="square" rtlCol="0" anchor="ctr"/>
          <a:lstStyle/>
          <a:p>
            <a:pPr indent="0" marL="0">
              <a:buNone/>
            </a:pPr>
            <a:r>
              <a:rPr lang="en-US" sz="2000" dirty="0">
                <a:solidFill>
                  <a:srgbClr val="1D9E75"/>
                </a:solidFill>
                <a:latin typeface="Calibri" pitchFamily="34" charset="0"/>
                <a:ea typeface="Calibri" pitchFamily="34" charset="-122"/>
                <a:cs typeface="Calibri" pitchFamily="34" charset="-120"/>
              </a:rPr>
              <a:t>It's infrastructure.</a:t>
            </a:r>
            <a:endParaRPr lang="en-US" sz="2000" dirty="0"/>
          </a:p>
          <a:p>
            <a:pPr indent="0" marL="0">
              <a:buNone/>
            </a:pPr>
            <a:r>
              <a:rPr lang="en-US" sz="2000" dirty="0">
                <a:solidFill>
                  <a:srgbClr val="1D9E75"/>
                </a:solidFill>
                <a:latin typeface="Calibri" pitchFamily="34" charset="0"/>
                <a:ea typeface="Calibri" pitchFamily="34" charset="-122"/>
                <a:cs typeface="Calibri" pitchFamily="34" charset="-120"/>
              </a:rPr>
              <a:t>It's a state machine.</a:t>
            </a:r>
            <a:endParaRPr lang="en-US" sz="2000" dirty="0"/>
          </a:p>
          <a:p>
            <a:pPr indent="0" marL="0">
              <a:buNone/>
            </a:pPr>
            <a:r>
              <a:rPr lang="en-US" sz="2000" dirty="0">
                <a:solidFill>
                  <a:srgbClr val="1D9E75"/>
                </a:solidFill>
                <a:latin typeface="Calibri" pitchFamily="34" charset="0"/>
                <a:ea typeface="Calibri" pitchFamily="34" charset="-122"/>
                <a:cs typeface="Calibri" pitchFamily="34" charset="-120"/>
              </a:rPr>
              <a:t>It's a safety-critical system.</a:t>
            </a:r>
            <a:endParaRPr lang="en-US" sz="2000" dirty="0"/>
          </a:p>
        </p:txBody>
      </p:sp>
      <p:sp>
        <p:nvSpPr>
          <p:cNvPr id="4" name="Text 2"/>
          <p:cNvSpPr/>
          <p:nvPr/>
        </p:nvSpPr>
        <p:spPr>
          <a:xfrm>
            <a:off x="640080" y="3749040"/>
            <a:ext cx="7863840" cy="246888"/>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  Runbooks are the pilot's checklist and the surgeon's SOP. Take them seriously.</a:t>
            </a:r>
            <a:endParaRPr lang="en-US" sz="1150" dirty="0"/>
          </a:p>
        </p:txBody>
      </p:sp>
      <p:sp>
        <p:nvSpPr>
          <p:cNvPr id="5" name="Text 3"/>
          <p:cNvSpPr/>
          <p:nvPr/>
        </p:nvSpPr>
        <p:spPr>
          <a:xfrm>
            <a:off x="640080" y="4014216"/>
            <a:ext cx="7863840" cy="246888"/>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  Deterministic runbooks + non-deterministic LLMs = production-safe AI agents.</a:t>
            </a:r>
            <a:endParaRPr lang="en-US" sz="1150" dirty="0"/>
          </a:p>
        </p:txBody>
      </p:sp>
      <p:sp>
        <p:nvSpPr>
          <p:cNvPr id="6" name="Text 4"/>
          <p:cNvSpPr/>
          <p:nvPr/>
        </p:nvSpPr>
        <p:spPr>
          <a:xfrm>
            <a:off x="640080" y="4279392"/>
            <a:ext cx="7863840" cy="246888"/>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  Human-in-the-loop is not a limitation. It's what makes this trustworthy.</a:t>
            </a:r>
            <a:endParaRPr lang="en-US" sz="1150" dirty="0"/>
          </a:p>
        </p:txBody>
      </p:sp>
      <p:sp>
        <p:nvSpPr>
          <p:cNvPr id="7" name="Text 5"/>
          <p:cNvSpPr/>
          <p:nvPr/>
        </p:nvSpPr>
        <p:spPr>
          <a:xfrm>
            <a:off x="640080" y="4544568"/>
            <a:ext cx="7863840" cy="246888"/>
          </a:xfrm>
          <a:prstGeom prst="rect">
            <a:avLst/>
          </a:prstGeom>
          <a:noFill/>
          <a:ln/>
        </p:spPr>
        <p:txBody>
          <a:bodyPr wrap="square" rtlCol="0" anchor="ctr"/>
          <a:lstStyle/>
          <a:p>
            <a:pPr indent="0" marL="0">
              <a:buNone/>
            </a:pPr>
            <a:r>
              <a:rPr lang="en-US" sz="1150" dirty="0">
                <a:solidFill>
                  <a:srgbClr val="8B949E"/>
                </a:solidFill>
                <a:latin typeface="Calibri" pitchFamily="34" charset="0"/>
                <a:ea typeface="Calibri" pitchFamily="34" charset="-122"/>
                <a:cs typeface="Calibri" pitchFamily="34" charset="-120"/>
              </a:rPr>
              <a:t>→  Go channels, typed Genkit flows, and a YAML state machine: your on-call rotation deserves this.</a:t>
            </a:r>
            <a:endParaRPr lang="en-US" sz="1150" dirty="0"/>
          </a:p>
        </p:txBody>
      </p:sp>
      <p:sp>
        <p:nvSpPr>
          <p:cNvPr id="8" name="Shape 6"/>
          <p:cNvSpPr/>
          <p:nvPr/>
        </p:nvSpPr>
        <p:spPr>
          <a:xfrm>
            <a:off x="0" y="4818888"/>
            <a:ext cx="9144000" cy="342900"/>
          </a:xfrm>
          <a:prstGeom prst="rect">
            <a:avLst/>
          </a:prstGeom>
          <a:solidFill>
            <a:srgbClr val="161B22"/>
          </a:solidFill>
          <a:ln w="6350">
            <a:solidFill>
              <a:srgbClr val="30363D"/>
            </a:solidFill>
            <a:prstDash val="solid"/>
          </a:ln>
        </p:spPr>
      </p:sp>
      <p:sp>
        <p:nvSpPr>
          <p:cNvPr id="9" name="Text 7"/>
          <p:cNvSpPr/>
          <p:nvPr/>
        </p:nvSpPr>
        <p:spPr>
          <a:xfrm>
            <a:off x="0" y="4818888"/>
            <a:ext cx="9144000" cy="342900"/>
          </a:xfrm>
          <a:prstGeom prst="rect">
            <a:avLst/>
          </a:prstGeom>
          <a:noFill/>
          <a:ln/>
        </p:spPr>
        <p:txBody>
          <a:bodyPr wrap="square" rtlCol="0" anchor="ctr"/>
          <a:lstStyle/>
          <a:p>
            <a:pPr algn="ctr" indent="0" marL="0">
              <a:buNone/>
            </a:pPr>
            <a:r>
              <a:rPr lang="en-US" sz="1050" dirty="0">
                <a:solidFill>
                  <a:srgbClr val="8B949E"/>
                </a:solidFill>
                <a:latin typeface="Calibri" pitchFamily="34" charset="0"/>
                <a:ea typeface="Calibri" pitchFamily="34" charset="-122"/>
                <a:cs typeface="Calibri" pitchFamily="34" charset="-120"/>
              </a:rPr>
              <a:t>Maurice Nyanja  ·  @nutcas3  ·  mauricee423@gmail.com  ·  Google I/O Extended Kisumu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Self-Healing Infrastructure</dc:title>
  <dc:subject>PptxGenJS Presentation</dc:subject>
  <dc:creator>Maurice Nyanja</dc:creator>
  <cp:lastModifiedBy>Maurice Nyanja</cp:lastModifiedBy>
  <cp:revision>1</cp:revision>
  <dcterms:created xsi:type="dcterms:W3CDTF">2026-06-28T10:47:20Z</dcterms:created>
  <dcterms:modified xsi:type="dcterms:W3CDTF">2026-06-28T10:47:20Z</dcterms:modified>
</cp:coreProperties>
</file>